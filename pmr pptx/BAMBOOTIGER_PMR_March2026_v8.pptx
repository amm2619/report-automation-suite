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9" r:id="rId19"/>
    <p:sldId id="320" r:id="rId20"/>
    <p:sldId id="321" r:id="rId21"/>
    <p:sldId id="322" r:id="rId22"/>
    <p:sldId id="323" r:id="rId23"/>
    <p:sldId id="324" r:id="rId24"/>
    <p:sldId id="325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30A0"/>
    <a:srgbClr val="0071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29641-8D48-E896-1959-971522C31242}" v="902" dt="2026-04-08T12:03:43.711"/>
    <p1510:client id="{21E05571-EDF5-0D15-B755-C5CA0F8BEF8E}" v="517" dt="2026-04-08T14:08:08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3AA07-4D81-4314-B390-FE74724D14B7}" type="datetimeFigureOut"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BE272-A943-4775-85F2-D8415B0FDD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4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58184" cy="6858000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58185" y="0"/>
            <a:ext cx="50292" cy="685800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" y="1463040"/>
            <a:ext cx="490714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BAMBOOTIGER</a:t>
            </a:r>
            <a:endParaRPr lang="en-US" sz="4400"/>
          </a:p>
        </p:txBody>
      </p:sp>
      <p:sp>
        <p:nvSpPr>
          <p:cNvPr id="8" name="Shape 5"/>
          <p:cNvSpPr/>
          <p:nvPr/>
        </p:nvSpPr>
        <p:spPr>
          <a:xfrm>
            <a:off x="329184" y="2761488"/>
            <a:ext cx="2560320" cy="36576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0" y="2761488"/>
            <a:ext cx="2255386" cy="36576"/>
          </a:xfrm>
          <a:prstGeom prst="rect">
            <a:avLst/>
          </a:prstGeom>
          <a:solidFill>
            <a:srgbClr val="3A4A5A"/>
          </a:solidFill>
          <a:ln w="12700">
            <a:solidFill>
              <a:srgbClr val="3A4A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" y="2871216"/>
            <a:ext cx="49071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Progress Report</a:t>
            </a:r>
            <a:endParaRPr lang="en-US" sz="1800"/>
          </a:p>
        </p:txBody>
      </p:sp>
      <p:sp>
        <p:nvSpPr>
          <p:cNvPr id="11" name="Text 8"/>
          <p:cNvSpPr/>
          <p:nvPr/>
        </p:nvSpPr>
        <p:spPr>
          <a:xfrm>
            <a:off x="329184" y="3401568"/>
            <a:ext cx="4907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6A7A8A"/>
                </a:solidFill>
                <a:latin typeface="Cambria"/>
                <a:ea typeface="Cambria"/>
                <a:cs typeface="Courier New"/>
              </a:rPr>
              <a:t>WORK PERIOD</a:t>
            </a:r>
            <a:r>
              <a:rPr lang="en-US" sz="1200" b="1" kern="0" spc="100">
                <a:solidFill>
                  <a:srgbClr val="6A7A8A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16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March 1 – March 31, 2026</a:t>
            </a:r>
            <a:endParaRPr lang="en-US" sz="1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29184" y="3803904"/>
            <a:ext cx="49071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5A6A7A"/>
                </a:solidFill>
                <a:latin typeface="Cambria"/>
                <a:ea typeface="Cambria"/>
                <a:cs typeface="Calibri"/>
              </a:rPr>
              <a:t>DO1  ·  H98230-18-D0045/0001</a:t>
            </a:r>
            <a:endParaRPr lang="en-US" sz="1200">
              <a:latin typeface="Cambria"/>
              <a:ea typeface="Cambria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6A7A"/>
                </a:solidFill>
                <a:latin typeface="Cambria"/>
                <a:ea typeface="Cambria"/>
                <a:cs typeface="Calibri" pitchFamily="34" charset="-120"/>
              </a:rPr>
              <a:t>DO1: A004-DI-ADMN-81373-Presentation Material</a:t>
            </a:r>
            <a:endParaRPr lang="en-US" sz="1200">
              <a:latin typeface="Cambria"/>
              <a:ea typeface="Cambria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9184" y="4425696"/>
            <a:ext cx="4907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6A7A8A"/>
                </a:solidFill>
                <a:latin typeface="Cambria"/>
                <a:ea typeface="Cambria"/>
                <a:cs typeface="Courier New"/>
              </a:rPr>
              <a:t>SUBMITTED</a:t>
            </a:r>
            <a:r>
              <a:rPr lang="en-US" sz="1100" b="1" kern="0" spc="100">
                <a:solidFill>
                  <a:srgbClr val="6A7A8A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April 4, 2026</a:t>
            </a:r>
            <a:r>
              <a:rPr lang="en-US" sz="1200" b="1" kern="0" spc="100">
                <a:solidFill>
                  <a:srgbClr val="6A7A8A"/>
                </a:solidFill>
                <a:latin typeface="Courier New"/>
                <a:ea typeface="Courier New" pitchFamily="34" charset="-122"/>
                <a:cs typeface="Courier New"/>
              </a:rPr>
              <a:t>   ·   </a:t>
            </a:r>
            <a:r>
              <a:rPr lang="en-US" sz="1100" b="1" kern="0" spc="100">
                <a:solidFill>
                  <a:srgbClr val="6A7A8A"/>
                </a:solidFill>
                <a:latin typeface="Cambria"/>
                <a:ea typeface="Cambria"/>
                <a:cs typeface="Courier New"/>
              </a:rPr>
              <a:t>PRESENTATION 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April 14, 2026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16" name="Text 13"/>
          <p:cNvSpPr/>
          <p:nvPr/>
        </p:nvSpPr>
        <p:spPr>
          <a:xfrm>
            <a:off x="7297860" y="411480"/>
            <a:ext cx="456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5A6070"/>
                </a:solidFill>
                <a:latin typeface="Cambria"/>
                <a:ea typeface="Cambria"/>
                <a:cs typeface="Courier New" pitchFamily="34" charset="-120"/>
              </a:rPr>
              <a:t>NIGHTWING</a:t>
            </a:r>
            <a:endParaRPr lang="en-US" sz="1100">
              <a:latin typeface="Cambria"/>
              <a:ea typeface="Cambri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297860" y="804672"/>
            <a:ext cx="4563150" cy="20117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97860" y="877824"/>
            <a:ext cx="456691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3400"/>
          </a:p>
        </p:txBody>
      </p:sp>
      <p:sp>
        <p:nvSpPr>
          <p:cNvPr id="19" name="Shape 16"/>
          <p:cNvSpPr/>
          <p:nvPr/>
        </p:nvSpPr>
        <p:spPr>
          <a:xfrm>
            <a:off x="7297860" y="2514600"/>
            <a:ext cx="4114800" cy="41737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97860" y="2514600"/>
            <a:ext cx="27432" cy="414822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97860" y="3108960"/>
            <a:ext cx="4114800" cy="41737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97860" y="3108960"/>
            <a:ext cx="27432" cy="414822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59312" y="3108960"/>
            <a:ext cx="914400" cy="41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5A6070"/>
                </a:solidFill>
                <a:latin typeface="Cambria"/>
                <a:ea typeface="Cambria"/>
                <a:cs typeface="Courier New" pitchFamily="34" charset="-120"/>
              </a:rPr>
              <a:t>SPRINT</a:t>
            </a:r>
            <a:endParaRPr lang="en-US" sz="1050">
              <a:latin typeface="Cambria"/>
              <a:ea typeface="Cambria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303700" y="3108960"/>
            <a:ext cx="3017520" cy="41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/>
          </a:p>
        </p:txBody>
      </p:sp>
      <p:sp>
        <p:nvSpPr>
          <p:cNvPr id="27" name="Shape 24"/>
          <p:cNvSpPr/>
          <p:nvPr/>
        </p:nvSpPr>
        <p:spPr>
          <a:xfrm>
            <a:off x="7297860" y="3703320"/>
            <a:ext cx="4114800" cy="402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97860" y="3703320"/>
            <a:ext cx="27432" cy="402532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59312" y="3703320"/>
            <a:ext cx="914400" cy="40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5A6070"/>
                </a:solidFill>
                <a:latin typeface="Cambria"/>
                <a:ea typeface="Cambria"/>
                <a:cs typeface="Courier New" pitchFamily="34" charset="-120"/>
              </a:rPr>
              <a:t>CLIN</a:t>
            </a:r>
            <a:endParaRPr lang="en-US" sz="1050">
              <a:latin typeface="Cambria"/>
              <a:ea typeface="Cambria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303700" y="3703320"/>
            <a:ext cx="3017520" cy="40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1</a:t>
            </a:r>
            <a:endParaRPr lang="en-US" sz="1400"/>
          </a:p>
        </p:txBody>
      </p:sp>
      <p:sp>
        <p:nvSpPr>
          <p:cNvPr id="31" name="Shape 28"/>
          <p:cNvSpPr/>
          <p:nvPr/>
        </p:nvSpPr>
        <p:spPr>
          <a:xfrm>
            <a:off x="7297860" y="4297680"/>
            <a:ext cx="4114800" cy="41443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297860" y="4297680"/>
            <a:ext cx="27432" cy="414822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59312" y="4297680"/>
            <a:ext cx="914400" cy="41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5A6070"/>
                </a:solidFill>
                <a:latin typeface="Cambria"/>
                <a:ea typeface="Cambria"/>
                <a:cs typeface="Courier New" pitchFamily="34" charset="-120"/>
              </a:rPr>
              <a:t>STATUS</a:t>
            </a:r>
            <a:endParaRPr lang="en-US" sz="1050">
              <a:latin typeface="Cambria"/>
              <a:ea typeface="Cambria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8303700" y="4297680"/>
            <a:ext cx="3017520" cy="41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736"/>
                </a:solidFill>
                <a:latin typeface="Calibri"/>
                <a:ea typeface="Calibri"/>
                <a:cs typeface="Calibri"/>
              </a:rPr>
              <a:t>COMPLETED</a:t>
            </a:r>
            <a:endParaRPr lang="en-US" sz="140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E3D7830A-2569-5B39-4C4D-FBDDFF602BB9}"/>
              </a:ext>
            </a:extLst>
          </p:cNvPr>
          <p:cNvSpPr/>
          <p:nvPr/>
        </p:nvSpPr>
        <p:spPr>
          <a:xfrm>
            <a:off x="7359312" y="2514600"/>
            <a:ext cx="914400" cy="41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5A6070"/>
                </a:solidFill>
                <a:latin typeface="Cambria"/>
                <a:ea typeface="Cambria"/>
                <a:cs typeface="Courier New" pitchFamily="34" charset="-120"/>
              </a:rPr>
              <a:t>SPRINT</a:t>
            </a:r>
            <a:endParaRPr lang="en-US" sz="1050">
              <a:latin typeface="Cambria"/>
              <a:ea typeface="Cambria"/>
            </a:endParaRPr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72C6673D-25B1-9D4D-E201-3F85747045DE}"/>
              </a:ext>
            </a:extLst>
          </p:cNvPr>
          <p:cNvSpPr/>
          <p:nvPr/>
        </p:nvSpPr>
        <p:spPr>
          <a:xfrm>
            <a:off x="8303700" y="2514600"/>
            <a:ext cx="3017520" cy="41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(U) Presentation Agenda</a:t>
            </a:r>
            <a:endParaRPr lang="en-US" sz="2200"/>
          </a:p>
        </p:txBody>
      </p:sp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" y="1088136"/>
            <a:ext cx="5739232" cy="24688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744" y="1088136"/>
            <a:ext cx="29261" cy="246888"/>
          </a:xfrm>
          <a:prstGeom prst="rect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" y="1088136"/>
            <a:ext cx="561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OPENING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237744" y="1335024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" y="1435608"/>
            <a:ext cx="73152" cy="73152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1335024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Kudos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>
          <a:xfrm>
            <a:off x="237744" y="1609344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9184" y="1709928"/>
            <a:ext cx="73152" cy="73152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" y="1609344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00"/>
          </a:p>
        </p:txBody>
      </p:sp>
      <p:sp>
        <p:nvSpPr>
          <p:cNvPr id="21" name="Shape 18"/>
          <p:cNvSpPr/>
          <p:nvPr/>
        </p:nvSpPr>
        <p:spPr>
          <a:xfrm>
            <a:off x="237744" y="2033704"/>
            <a:ext cx="5739232" cy="24688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7744" y="2033704"/>
            <a:ext cx="29261" cy="246888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84" y="2033704"/>
            <a:ext cx="561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0</a:t>
            </a:r>
            <a:endParaRPr lang="en-US" sz="1100"/>
          </a:p>
        </p:txBody>
      </p:sp>
      <p:sp>
        <p:nvSpPr>
          <p:cNvPr id="24" name="Shape 21"/>
          <p:cNvSpPr/>
          <p:nvPr/>
        </p:nvSpPr>
        <p:spPr>
          <a:xfrm>
            <a:off x="237744" y="2280592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9184" y="2381176"/>
            <a:ext cx="73152" cy="73152"/>
          </a:xfrm>
          <a:prstGeom prst="ellipse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" y="2280592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Surge Support</a:t>
            </a:r>
            <a:endParaRPr lang="en-US" sz="1300"/>
          </a:p>
        </p:txBody>
      </p:sp>
      <p:sp>
        <p:nvSpPr>
          <p:cNvPr id="27" name="Shape 24"/>
          <p:cNvSpPr/>
          <p:nvPr/>
        </p:nvSpPr>
        <p:spPr>
          <a:xfrm>
            <a:off x="237744" y="2554912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9184" y="2655496"/>
            <a:ext cx="73152" cy="73152"/>
          </a:xfrm>
          <a:prstGeom prst="ellipse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" y="2554912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 Mission – SWINGCAROUSEL</a:t>
            </a:r>
            <a:endParaRPr lang="en-US" sz="1300"/>
          </a:p>
        </p:txBody>
      </p:sp>
      <p:sp>
        <p:nvSpPr>
          <p:cNvPr id="30" name="Shape 27"/>
          <p:cNvSpPr/>
          <p:nvPr/>
        </p:nvSpPr>
        <p:spPr>
          <a:xfrm>
            <a:off x="237744" y="3483175"/>
            <a:ext cx="5739232" cy="24688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37744" y="3483175"/>
            <a:ext cx="29261" cy="24688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9184" y="3483175"/>
            <a:ext cx="561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1</a:t>
            </a:r>
            <a:endParaRPr lang="en-US" sz="1100"/>
          </a:p>
        </p:txBody>
      </p:sp>
      <p:sp>
        <p:nvSpPr>
          <p:cNvPr id="33" name="Shape 30"/>
          <p:cNvSpPr/>
          <p:nvPr/>
        </p:nvSpPr>
        <p:spPr>
          <a:xfrm>
            <a:off x="237744" y="3017225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9184" y="3117809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5488" y="3017225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Milestone Roadmap</a:t>
            </a:r>
            <a:endParaRPr lang="en-US" sz="1300"/>
          </a:p>
        </p:txBody>
      </p:sp>
      <p:sp>
        <p:nvSpPr>
          <p:cNvPr id="36" name="Shape 33"/>
          <p:cNvSpPr/>
          <p:nvPr/>
        </p:nvSpPr>
        <p:spPr>
          <a:xfrm>
            <a:off x="237744" y="373399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29184" y="383458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5488" y="373399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Migration</a:t>
            </a:r>
            <a:endParaRPr lang="en-US" sz="1300"/>
          </a:p>
        </p:txBody>
      </p:sp>
      <p:sp>
        <p:nvSpPr>
          <p:cNvPr id="39" name="Shape 36"/>
          <p:cNvSpPr/>
          <p:nvPr/>
        </p:nvSpPr>
        <p:spPr>
          <a:xfrm>
            <a:off x="237744" y="400831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29184" y="410890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5488" y="400831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Modernization – DX</a:t>
            </a:r>
            <a:endParaRPr lang="en-US" sz="1300"/>
          </a:p>
        </p:txBody>
      </p:sp>
      <p:sp>
        <p:nvSpPr>
          <p:cNvPr id="42" name="Shape 39"/>
          <p:cNvSpPr/>
          <p:nvPr/>
        </p:nvSpPr>
        <p:spPr>
          <a:xfrm>
            <a:off x="237744" y="428263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29184" y="438322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5488" y="428263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Modernization – LX</a:t>
            </a:r>
            <a:endParaRPr lang="en-US" sz="1300"/>
          </a:p>
        </p:txBody>
      </p:sp>
      <p:sp>
        <p:nvSpPr>
          <p:cNvPr id="45" name="Shape 42"/>
          <p:cNvSpPr/>
          <p:nvPr/>
        </p:nvSpPr>
        <p:spPr>
          <a:xfrm>
            <a:off x="237744" y="455695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29184" y="465754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5488" y="455695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Modernization – RC</a:t>
            </a:r>
            <a:endParaRPr lang="en-US" sz="1300"/>
          </a:p>
        </p:txBody>
      </p:sp>
      <p:sp>
        <p:nvSpPr>
          <p:cNvPr id="48" name="Shape 45"/>
          <p:cNvSpPr/>
          <p:nvPr/>
        </p:nvSpPr>
        <p:spPr>
          <a:xfrm>
            <a:off x="237744" y="483127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29184" y="493186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75488" y="483127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GCENext</a:t>
            </a:r>
            <a:endParaRPr lang="en-US" sz="1300"/>
          </a:p>
        </p:txBody>
      </p:sp>
      <p:sp>
        <p:nvSpPr>
          <p:cNvPr id="51" name="Shape 48"/>
          <p:cNvSpPr/>
          <p:nvPr/>
        </p:nvSpPr>
        <p:spPr>
          <a:xfrm>
            <a:off x="237744" y="510559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29184" y="520618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75488" y="510559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Nanostorm T&amp;D</a:t>
            </a:r>
            <a:endParaRPr lang="en-US" sz="1300"/>
          </a:p>
        </p:txBody>
      </p:sp>
      <p:sp>
        <p:nvSpPr>
          <p:cNvPr id="54" name="Shape 51"/>
          <p:cNvSpPr/>
          <p:nvPr/>
        </p:nvSpPr>
        <p:spPr>
          <a:xfrm>
            <a:off x="237744" y="5379916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29184" y="5480500"/>
            <a:ext cx="73152" cy="73152"/>
          </a:xfrm>
          <a:prstGeom prst="ellipse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75488" y="5379916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1E2736"/>
                </a:solidFill>
                <a:latin typeface="Calibri"/>
                <a:ea typeface="Calibri"/>
                <a:cs typeface="Calibri"/>
              </a:rPr>
              <a:t>Sensitive Data Protection</a:t>
            </a:r>
            <a:endParaRPr lang="en-US" sz="1300"/>
          </a:p>
        </p:txBody>
      </p:sp>
      <p:sp>
        <p:nvSpPr>
          <p:cNvPr id="57" name="Shape 54"/>
          <p:cNvSpPr/>
          <p:nvPr/>
        </p:nvSpPr>
        <p:spPr>
          <a:xfrm>
            <a:off x="6214720" y="1088136"/>
            <a:ext cx="5739232" cy="24688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214720" y="1088136"/>
            <a:ext cx="29261" cy="246888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306160" y="1088136"/>
            <a:ext cx="561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2</a:t>
            </a:r>
            <a:endParaRPr lang="en-US" sz="1100"/>
          </a:p>
        </p:txBody>
      </p:sp>
      <p:sp>
        <p:nvSpPr>
          <p:cNvPr id="60" name="Shape 57"/>
          <p:cNvSpPr/>
          <p:nvPr/>
        </p:nvSpPr>
        <p:spPr>
          <a:xfrm>
            <a:off x="6214720" y="1335024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306160" y="1435608"/>
            <a:ext cx="73152" cy="73152"/>
          </a:xfrm>
          <a:prstGeom prst="ellipse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452464" y="1335024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Support</a:t>
            </a:r>
            <a:endParaRPr lang="en-US" sz="1300"/>
          </a:p>
        </p:txBody>
      </p:sp>
      <p:sp>
        <p:nvSpPr>
          <p:cNvPr id="63" name="Shape 60"/>
          <p:cNvSpPr/>
          <p:nvPr/>
        </p:nvSpPr>
        <p:spPr>
          <a:xfrm>
            <a:off x="6214720" y="1747094"/>
            <a:ext cx="5739232" cy="24688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214720" y="1747094"/>
            <a:ext cx="29261" cy="246888"/>
          </a:xfrm>
          <a:prstGeom prst="rect">
            <a:avLst/>
          </a:prstGeom>
          <a:solidFill>
            <a:srgbClr val="B02060"/>
          </a:solidFill>
          <a:ln w="12700">
            <a:solidFill>
              <a:srgbClr val="B0206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306160" y="1747094"/>
            <a:ext cx="561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3</a:t>
            </a:r>
            <a:endParaRPr lang="en-US" sz="1100"/>
          </a:p>
        </p:txBody>
      </p:sp>
      <p:sp>
        <p:nvSpPr>
          <p:cNvPr id="66" name="Shape 63"/>
          <p:cNvSpPr/>
          <p:nvPr/>
        </p:nvSpPr>
        <p:spPr>
          <a:xfrm>
            <a:off x="6214720" y="1993982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306160" y="2094566"/>
            <a:ext cx="73152" cy="73152"/>
          </a:xfrm>
          <a:prstGeom prst="ellipse">
            <a:avLst/>
          </a:prstGeom>
          <a:solidFill>
            <a:srgbClr val="B02060"/>
          </a:solidFill>
          <a:ln w="12700">
            <a:solidFill>
              <a:srgbClr val="B0206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452464" y="1993982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TechSIGINT Revitalization</a:t>
            </a:r>
            <a:endParaRPr lang="en-US" sz="1300"/>
          </a:p>
        </p:txBody>
      </p:sp>
      <p:sp>
        <p:nvSpPr>
          <p:cNvPr id="69" name="Shape 66"/>
          <p:cNvSpPr/>
          <p:nvPr/>
        </p:nvSpPr>
        <p:spPr>
          <a:xfrm>
            <a:off x="6214720" y="2418342"/>
            <a:ext cx="5739232" cy="24688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214720" y="2418342"/>
            <a:ext cx="29261" cy="246888"/>
          </a:xfrm>
          <a:prstGeom prst="rect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306160" y="2418342"/>
            <a:ext cx="561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1100"/>
          </a:p>
        </p:txBody>
      </p:sp>
      <p:sp>
        <p:nvSpPr>
          <p:cNvPr id="72" name="Shape 69"/>
          <p:cNvSpPr/>
          <p:nvPr/>
        </p:nvSpPr>
        <p:spPr>
          <a:xfrm>
            <a:off x="6214720" y="2665230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306160" y="2765814"/>
            <a:ext cx="73152" cy="73152"/>
          </a:xfrm>
          <a:prstGeom prst="ellipse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452464" y="2665230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Issue Matrix</a:t>
            </a:r>
            <a:endParaRPr lang="en-US" sz="1300"/>
          </a:p>
        </p:txBody>
      </p:sp>
      <p:sp>
        <p:nvSpPr>
          <p:cNvPr id="75" name="Shape 72"/>
          <p:cNvSpPr/>
          <p:nvPr/>
        </p:nvSpPr>
        <p:spPr>
          <a:xfrm>
            <a:off x="6214720" y="2939550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306160" y="3040134"/>
            <a:ext cx="73152" cy="73152"/>
          </a:xfrm>
          <a:prstGeom prst="ellipse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452464" y="2939550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&amp; Accreditations</a:t>
            </a:r>
            <a:endParaRPr lang="en-US" sz="1300"/>
          </a:p>
        </p:txBody>
      </p:sp>
      <p:sp>
        <p:nvSpPr>
          <p:cNvPr id="78" name="Shape 75"/>
          <p:cNvSpPr/>
          <p:nvPr/>
        </p:nvSpPr>
        <p:spPr>
          <a:xfrm>
            <a:off x="6214720" y="3213870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306160" y="3314454"/>
            <a:ext cx="73152" cy="73152"/>
          </a:xfrm>
          <a:prstGeom prst="ellipse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452464" y="3213870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</a:t>
            </a:r>
            <a:endParaRPr lang="en-US" sz="1300"/>
          </a:p>
        </p:txBody>
      </p:sp>
      <p:sp>
        <p:nvSpPr>
          <p:cNvPr id="81" name="Shape 78"/>
          <p:cNvSpPr/>
          <p:nvPr/>
        </p:nvSpPr>
        <p:spPr>
          <a:xfrm>
            <a:off x="6214720" y="3488190"/>
            <a:ext cx="5739232" cy="274320"/>
          </a:xfrm>
          <a:prstGeom prst="rect">
            <a:avLst/>
          </a:prstGeom>
          <a:solidFill>
            <a:srgbClr val="F0EDE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306160" y="3588774"/>
            <a:ext cx="73152" cy="73152"/>
          </a:xfrm>
          <a:prstGeom prst="ellipse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6452464" y="3488190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(U) Kudos</a:t>
            </a:r>
            <a:endParaRPr lang="en-US" sz="2200"/>
          </a:p>
        </p:txBody>
      </p:sp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" y="1088136"/>
            <a:ext cx="11716207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744" y="1088136"/>
            <a:ext cx="11716207" cy="36576"/>
          </a:xfrm>
          <a:prstGeom prst="rect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2336" y="1197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600"/>
          </a:p>
        </p:txBody>
      </p:sp>
      <p:sp>
        <p:nvSpPr>
          <p:cNvPr id="15" name="Text 12"/>
          <p:cNvSpPr/>
          <p:nvPr/>
        </p:nvSpPr>
        <p:spPr>
          <a:xfrm>
            <a:off x="896112" y="1197864"/>
            <a:ext cx="10893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/ Individual Name]</a:t>
            </a:r>
            <a:endParaRPr lang="en-US" sz="1800"/>
          </a:p>
        </p:txBody>
      </p:sp>
      <p:sp>
        <p:nvSpPr>
          <p:cNvPr id="16" name="Shape 13"/>
          <p:cNvSpPr/>
          <p:nvPr/>
        </p:nvSpPr>
        <p:spPr>
          <a:xfrm>
            <a:off x="402336" y="1709928"/>
            <a:ext cx="11387023" cy="13716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" y="1764792"/>
            <a:ext cx="11387023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accomplishment, impact, and why it merits recognition this period.]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(U) Actions</a:t>
            </a:r>
            <a:endParaRPr lang="en-US" sz="2200"/>
          </a:p>
        </p:txBody>
      </p:sp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" y="2758745"/>
            <a:ext cx="11716207" cy="2227478"/>
          </a:xfrm>
          <a:prstGeom prst="rect">
            <a:avLst/>
          </a:prstGeom>
          <a:solidFill>
            <a:srgbClr val="FFFFFF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744" y="2758745"/>
            <a:ext cx="11716207" cy="29261"/>
          </a:xfrm>
          <a:prstGeom prst="rect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" y="2813609"/>
            <a:ext cx="11716207" cy="211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3000">
                <a:solidFill>
                  <a:srgbClr val="B87800">
                    <a:alpha val="13000"/>
                  </a:srgbClr>
                </a:solidFill>
                <a:latin typeface="Cambria"/>
                <a:ea typeface="Cambria"/>
                <a:cs typeface="Calibri" pitchFamily="34" charset="-120"/>
              </a:rPr>
              <a:t>NTR</a:t>
            </a:r>
            <a:endParaRPr lang="en-US" sz="7200">
              <a:latin typeface="Cambria"/>
              <a:ea typeface="Cambria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37744" y="2813609"/>
            <a:ext cx="11716207" cy="211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600">
                <a:solidFill>
                  <a:srgbClr val="7A4A00"/>
                </a:solidFill>
                <a:latin typeface="Cambria"/>
                <a:ea typeface="Cambria"/>
                <a:cs typeface="Courier New" pitchFamily="34" charset="-120"/>
              </a:rPr>
              <a:t>NOTHING TO REPORT</a:t>
            </a:r>
            <a:endParaRPr lang="en-US" sz="2800">
              <a:latin typeface="Cambria"/>
              <a:ea typeface="Cambria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37744" y="3444545"/>
            <a:ext cx="11716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items tracked for this reporting period.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3474720" cy="6455664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64008" cy="6455664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384048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3000"/>
          </a:p>
        </p:txBody>
      </p:sp>
      <p:sp>
        <p:nvSpPr>
          <p:cNvPr id="9" name="Text 7"/>
          <p:cNvSpPr/>
          <p:nvPr/>
        </p:nvSpPr>
        <p:spPr>
          <a:xfrm>
            <a:off x="164592" y="70408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B84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8000"/>
          </a:p>
        </p:txBody>
      </p:sp>
      <p:sp>
        <p:nvSpPr>
          <p:cNvPr id="10" name="Text 8"/>
          <p:cNvSpPr/>
          <p:nvPr/>
        </p:nvSpPr>
        <p:spPr>
          <a:xfrm>
            <a:off x="164592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kern="0" spc="2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PRIORITY</a:t>
            </a:r>
            <a:endParaRPr lang="en-US" sz="170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01675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794760" y="475488"/>
            <a:ext cx="81591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50">
                <a:solidFill>
                  <a:srgbClr val="B84A10"/>
                </a:solidFill>
                <a:latin typeface="Cambria"/>
                <a:ea typeface="Cambria"/>
                <a:cs typeface="Courier New"/>
              </a:rPr>
              <a:t>TIER 0</a:t>
            </a:r>
          </a:p>
        </p:txBody>
      </p:sp>
      <p:sp>
        <p:nvSpPr>
          <p:cNvPr id="14" name="Shape 11"/>
          <p:cNvSpPr/>
          <p:nvPr/>
        </p:nvSpPr>
        <p:spPr>
          <a:xfrm>
            <a:off x="3794760" y="694944"/>
            <a:ext cx="8159191" cy="20117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94760" y="822960"/>
            <a:ext cx="22860" cy="377190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71059" y="822960"/>
            <a:ext cx="4567465" cy="37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Surge Support</a:t>
            </a:r>
            <a:endParaRPr lang="en-US" sz="1800"/>
          </a:p>
        </p:txBody>
      </p:sp>
      <p:sp>
        <p:nvSpPr>
          <p:cNvPr id="17" name="Shape 14"/>
          <p:cNvSpPr/>
          <p:nvPr/>
        </p:nvSpPr>
        <p:spPr>
          <a:xfrm>
            <a:off x="3794760" y="1453897"/>
            <a:ext cx="22860" cy="377190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1059" y="1453897"/>
            <a:ext cx="4577298" cy="37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 Mission – SWINGCAROUSEL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Tier 0 – Priority 1 – Strategic Surge Support</a:t>
            </a:r>
            <a:endParaRPr lang="en-US" sz="2200"/>
          </a:p>
        </p:txBody>
      </p:sp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753356" y="996696"/>
            <a:ext cx="2438339" cy="5660136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53356" y="996696"/>
            <a:ext cx="54864" cy="566013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99660" y="1179576"/>
            <a:ext cx="2218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F5A800"/>
                </a:solidFill>
                <a:latin typeface="Cambria"/>
                <a:ea typeface="Cambria"/>
                <a:cs typeface="Courier New" pitchFamily="34" charset="-120"/>
              </a:rPr>
              <a:t>NEAR-FUTURE</a:t>
            </a:r>
            <a:endParaRPr lang="en-US" sz="1100">
              <a:latin typeface="Cambria"/>
              <a:ea typeface="Cambria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9899660" y="1435608"/>
            <a:ext cx="22188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3000"/>
          </a:p>
        </p:txBody>
      </p:sp>
      <p:sp>
        <p:nvSpPr>
          <p:cNvPr id="30" name="Shape 27"/>
          <p:cNvSpPr/>
          <p:nvPr/>
        </p:nvSpPr>
        <p:spPr>
          <a:xfrm>
            <a:off x="9899660" y="1947672"/>
            <a:ext cx="2164019" cy="22860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899660" y="2167128"/>
            <a:ext cx="41911" cy="51435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998339" y="2093976"/>
            <a:ext cx="2083628" cy="1599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TILE — continued pipeline automation and capacity scaling.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sz="1200">
              <a:solidFill>
                <a:srgbClr val="D8DCE8"/>
              </a:solidFill>
              <a:ea typeface="Calibri"/>
              <a:cs typeface="Calibri"/>
            </a:endParaRPr>
          </a:p>
          <a:p>
            <a:r>
              <a:rPr lang="en-US" sz="1200">
                <a:solidFill>
                  <a:srgbClr val="D8DCE8"/>
                </a:solidFill>
                <a:ea typeface="Calibri"/>
                <a:cs typeface="Calibri"/>
              </a:rPr>
              <a:t>(U//FOUO) BAYARD — continued focus form testing with mission partners.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CE12F8A6-9F03-2143-AE4A-DECC9A1A1B62}"/>
              </a:ext>
            </a:extLst>
          </p:cNvPr>
          <p:cNvSpPr/>
          <p:nvPr/>
        </p:nvSpPr>
        <p:spPr>
          <a:xfrm>
            <a:off x="9899659" y="2900553"/>
            <a:ext cx="41911" cy="51435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61F12FD-FCD2-9CA5-14CF-7D9BD6CAF8B4}"/>
              </a:ext>
            </a:extLst>
          </p:cNvPr>
          <p:cNvGrpSpPr/>
          <p:nvPr/>
        </p:nvGrpSpPr>
        <p:grpSpPr>
          <a:xfrm>
            <a:off x="327703" y="1433300"/>
            <a:ext cx="1367014" cy="4748127"/>
            <a:chOff x="327703" y="1433300"/>
            <a:chExt cx="919341" cy="4748127"/>
          </a:xfrm>
        </p:grpSpPr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102F1F24-668C-A6F5-C0B7-1D77135F64CB}"/>
                </a:ext>
              </a:extLst>
            </p:cNvPr>
            <p:cNvSpPr/>
            <p:nvPr/>
          </p:nvSpPr>
          <p:spPr>
            <a:xfrm>
              <a:off x="327703" y="1433300"/>
              <a:ext cx="919341" cy="227792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71A4"/>
              </a:solidFill>
              <a:prstDash val="solid"/>
            </a:ln>
          </p:spPr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A9738C81-2121-5FE1-3F10-0A860409FBA0}"/>
                </a:ext>
              </a:extLst>
            </p:cNvPr>
            <p:cNvSpPr/>
            <p:nvPr/>
          </p:nvSpPr>
          <p:spPr>
            <a:xfrm>
              <a:off x="327703" y="1442824"/>
              <a:ext cx="45967" cy="2277922"/>
            </a:xfrm>
            <a:prstGeom prst="rect">
              <a:avLst/>
            </a:prstGeom>
            <a:solidFill>
              <a:srgbClr val="0071A4"/>
            </a:solidFill>
            <a:ln w="12700">
              <a:solidFill>
                <a:srgbClr val="0071A4"/>
              </a:solidFill>
              <a:prstDash val="solid"/>
            </a:ln>
          </p:spPr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DC645A36-3479-03A4-F5DD-6F6C8613402D}"/>
                </a:ext>
              </a:extLst>
            </p:cNvPr>
            <p:cNvSpPr/>
            <p:nvPr/>
          </p:nvSpPr>
          <p:spPr>
            <a:xfrm>
              <a:off x="327703" y="1442824"/>
              <a:ext cx="919341" cy="12528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071A4"/>
                  </a:solidFill>
                  <a:latin typeface="Cambria"/>
                  <a:ea typeface="Cambria"/>
                  <a:cs typeface="Calibri"/>
                </a:rPr>
                <a:t>TILE</a:t>
              </a:r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07AB42A7-4D58-2ED9-45D2-B38251F008A1}"/>
                </a:ext>
              </a:extLst>
            </p:cNvPr>
            <p:cNvSpPr/>
            <p:nvPr/>
          </p:nvSpPr>
          <p:spPr>
            <a:xfrm>
              <a:off x="373670" y="2741240"/>
              <a:ext cx="845793" cy="865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>
                  <a:solidFill>
                    <a:srgbClr val="0071A4"/>
                  </a:solidFill>
                  <a:latin typeface="Calibri"/>
                  <a:ea typeface="Calibri"/>
                  <a:cs typeface="Calibri"/>
                </a:rPr>
                <a:t>TIEREDLEGEND</a:t>
              </a:r>
              <a:endParaRPr lang="en-US"/>
            </a:p>
          </p:txBody>
        </p:sp>
        <p:sp>
          <p:nvSpPr>
            <p:cNvPr id="33" name="Shape 50">
              <a:extLst>
                <a:ext uri="{FF2B5EF4-FFF2-40B4-BE49-F238E27FC236}">
                  <a16:creationId xmlns:a16="http://schemas.microsoft.com/office/drawing/2014/main" id="{4F7D7E19-63B7-AEE1-2FE1-E8A17EB6C2D2}"/>
                </a:ext>
              </a:extLst>
            </p:cNvPr>
            <p:cNvSpPr/>
            <p:nvPr/>
          </p:nvSpPr>
          <p:spPr>
            <a:xfrm>
              <a:off x="327703" y="3893979"/>
              <a:ext cx="917435" cy="2287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6030A0"/>
              </a:solidFill>
              <a:prstDash val="solid"/>
            </a:ln>
          </p:spPr>
        </p:sp>
        <p:sp>
          <p:nvSpPr>
            <p:cNvPr id="34" name="Shape 51">
              <a:extLst>
                <a:ext uri="{FF2B5EF4-FFF2-40B4-BE49-F238E27FC236}">
                  <a16:creationId xmlns:a16="http://schemas.microsoft.com/office/drawing/2014/main" id="{A3D43D3C-4142-A1F7-F0CB-58D5BA3DE110}"/>
                </a:ext>
              </a:extLst>
            </p:cNvPr>
            <p:cNvSpPr/>
            <p:nvPr/>
          </p:nvSpPr>
          <p:spPr>
            <a:xfrm>
              <a:off x="327703" y="3893978"/>
              <a:ext cx="45872" cy="2287448"/>
            </a:xfrm>
            <a:prstGeom prst="rect">
              <a:avLst/>
            </a:prstGeom>
            <a:solidFill>
              <a:srgbClr val="6030A0"/>
            </a:solidFill>
            <a:ln w="12700">
              <a:solidFill>
                <a:srgbClr val="6030A0"/>
              </a:solidFill>
              <a:prstDash val="solid"/>
            </a:ln>
          </p:spPr>
        </p:sp>
        <p:sp>
          <p:nvSpPr>
            <p:cNvPr id="35" name="Text 52">
              <a:extLst>
                <a:ext uri="{FF2B5EF4-FFF2-40B4-BE49-F238E27FC236}">
                  <a16:creationId xmlns:a16="http://schemas.microsoft.com/office/drawing/2014/main" id="{E562F58C-DC35-C976-E8A2-BCF54D524D85}"/>
                </a:ext>
              </a:extLst>
            </p:cNvPr>
            <p:cNvSpPr/>
            <p:nvPr/>
          </p:nvSpPr>
          <p:spPr>
            <a:xfrm>
              <a:off x="327703" y="3893978"/>
              <a:ext cx="917435" cy="125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6030A0"/>
                  </a:solidFill>
                  <a:latin typeface="Cambria"/>
                  <a:ea typeface="Cambria"/>
                  <a:cs typeface="Calibri"/>
                </a:rPr>
                <a:t>BAYARD</a:t>
              </a:r>
            </a:p>
          </p:txBody>
        </p:sp>
        <p:sp>
          <p:nvSpPr>
            <p:cNvPr id="37" name="Text 53">
              <a:extLst>
                <a:ext uri="{FF2B5EF4-FFF2-40B4-BE49-F238E27FC236}">
                  <a16:creationId xmlns:a16="http://schemas.microsoft.com/office/drawing/2014/main" id="{8820E863-AA45-DB4B-B7CE-39FFBFD7F0BC}"/>
                </a:ext>
              </a:extLst>
            </p:cNvPr>
            <p:cNvSpPr/>
            <p:nvPr/>
          </p:nvSpPr>
          <p:spPr>
            <a:xfrm>
              <a:off x="373575" y="5197824"/>
              <a:ext cx="844040" cy="8692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50">
                <a:solidFill>
                  <a:srgbClr val="6030A0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4392E9-119C-3FDC-F2F6-3CFD290424A7}"/>
              </a:ext>
            </a:extLst>
          </p:cNvPr>
          <p:cNvGrpSpPr/>
          <p:nvPr/>
        </p:nvGrpSpPr>
        <p:grpSpPr>
          <a:xfrm>
            <a:off x="1786702" y="1433300"/>
            <a:ext cx="7717217" cy="4748125"/>
            <a:chOff x="1358077" y="1423775"/>
            <a:chExt cx="3564317" cy="4757651"/>
          </a:xfrm>
        </p:grpSpPr>
        <p:sp>
          <p:nvSpPr>
            <p:cNvPr id="39" name="Shape 22">
              <a:extLst>
                <a:ext uri="{FF2B5EF4-FFF2-40B4-BE49-F238E27FC236}">
                  <a16:creationId xmlns:a16="http://schemas.microsoft.com/office/drawing/2014/main" id="{A0B2F256-56E4-2BBF-02D5-025DEE2880F6}"/>
                </a:ext>
              </a:extLst>
            </p:cNvPr>
            <p:cNvSpPr/>
            <p:nvPr/>
          </p:nvSpPr>
          <p:spPr>
            <a:xfrm>
              <a:off x="1360217" y="1423775"/>
              <a:ext cx="3562177" cy="227792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71A4"/>
              </a:solidFill>
              <a:prstDash val="solid"/>
            </a:ln>
          </p:spPr>
        </p:sp>
        <p:sp>
          <p:nvSpPr>
            <p:cNvPr id="40" name="Text 23">
              <a:extLst>
                <a:ext uri="{FF2B5EF4-FFF2-40B4-BE49-F238E27FC236}">
                  <a16:creationId xmlns:a16="http://schemas.microsoft.com/office/drawing/2014/main" id="{D925F73A-02AE-82E6-4873-BE08FF8656E9}"/>
                </a:ext>
              </a:extLst>
            </p:cNvPr>
            <p:cNvSpPr/>
            <p:nvPr/>
          </p:nvSpPr>
          <p:spPr>
            <a:xfrm>
              <a:off x="1456967" y="1616564"/>
              <a:ext cx="3368677" cy="20962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>
                  <a:solidFill>
                    <a:srgbClr val="1A1E28"/>
                  </a:solidFill>
                  <a:latin typeface="Calibri"/>
                  <a:ea typeface="Calibri"/>
                  <a:cs typeface="Calibri"/>
                </a:rPr>
                <a:t>(U//FOUO) work completed this period.</a:t>
              </a:r>
              <a:endParaRPr lang="en-US" sz="13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41" name="Shape 54">
              <a:extLst>
                <a:ext uri="{FF2B5EF4-FFF2-40B4-BE49-F238E27FC236}">
                  <a16:creationId xmlns:a16="http://schemas.microsoft.com/office/drawing/2014/main" id="{3C3BF026-036B-9D19-2808-E7EB6AFB1503}"/>
                </a:ext>
              </a:extLst>
            </p:cNvPr>
            <p:cNvSpPr/>
            <p:nvPr/>
          </p:nvSpPr>
          <p:spPr>
            <a:xfrm>
              <a:off x="1358077" y="3893978"/>
              <a:ext cx="3554792" cy="2287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6030A0"/>
              </a:solidFill>
              <a:prstDash val="solid"/>
            </a:ln>
          </p:spPr>
        </p:sp>
        <p:sp>
          <p:nvSpPr>
            <p:cNvPr id="42" name="Text 55">
              <a:extLst>
                <a:ext uri="{FF2B5EF4-FFF2-40B4-BE49-F238E27FC236}">
                  <a16:creationId xmlns:a16="http://schemas.microsoft.com/office/drawing/2014/main" id="{B036A0D4-5DB0-BD06-D138-4764CC4C23C0}"/>
                </a:ext>
              </a:extLst>
            </p:cNvPr>
            <p:cNvSpPr/>
            <p:nvPr/>
          </p:nvSpPr>
          <p:spPr>
            <a:xfrm>
              <a:off x="1454626" y="4068444"/>
              <a:ext cx="3361694" cy="21092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>
                  <a:solidFill>
                    <a:srgbClr val="1A1E2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(U//FOUO) Bug fixes, stability patches, and mission support tasks completed this period.</a:t>
              </a:r>
              <a:endParaRPr lang="en-US" sz="13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Tier 0 – Priority 2 – Graph Data Mission – SWINGCAROUSEL</a:t>
            </a:r>
            <a:endParaRPr lang="en-US" sz="2200"/>
          </a:p>
        </p:txBody>
      </p:sp>
      <p:sp>
        <p:nvSpPr>
          <p:cNvPr id="12" name="Shape 9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B84A10"/>
          </a:solidFill>
          <a:ln w="12700">
            <a:solidFill>
              <a:srgbClr val="B84A1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B8491D1-2B7F-8C1B-5BE6-D6C07A0B9D3C}"/>
              </a:ext>
            </a:extLst>
          </p:cNvPr>
          <p:cNvGrpSpPr/>
          <p:nvPr/>
        </p:nvGrpSpPr>
        <p:grpSpPr>
          <a:xfrm>
            <a:off x="325275" y="996696"/>
            <a:ext cx="11866420" cy="5660136"/>
            <a:chOff x="325275" y="996696"/>
            <a:chExt cx="11866420" cy="566013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7938722-3481-499D-B70B-5A2BDF443408}"/>
                </a:ext>
              </a:extLst>
            </p:cNvPr>
            <p:cNvGrpSpPr/>
            <p:nvPr/>
          </p:nvGrpSpPr>
          <p:grpSpPr>
            <a:xfrm>
              <a:off x="325275" y="1184300"/>
              <a:ext cx="9170900" cy="5285900"/>
              <a:chOff x="334800" y="1184300"/>
              <a:chExt cx="9170900" cy="5285900"/>
            </a:xfrm>
          </p:grpSpPr>
          <p:sp>
            <p:nvSpPr>
              <p:cNvPr id="39" name="Shape nf">
                <a:extLst>
                  <a:ext uri="{FF2B5EF4-FFF2-40B4-BE49-F238E27FC236}">
                    <a16:creationId xmlns:a16="http://schemas.microsoft.com/office/drawing/2014/main" id="{53A2B8CD-9A5F-3586-1F64-D6E0F9263F38}"/>
                  </a:ext>
                </a:extLst>
              </p:cNvPr>
              <p:cNvSpPr/>
              <p:nvPr/>
            </p:nvSpPr>
            <p:spPr>
              <a:xfrm>
                <a:off x="334800" y="1184300"/>
                <a:ext cx="4456524" cy="52859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7A33"/>
                </a:solidFill>
                <a:prstDash val="solid"/>
              </a:ln>
            </p:spPr>
          </p:sp>
          <p:sp>
            <p:nvSpPr>
              <p:cNvPr id="40" name="Text nflabel">
                <a:extLst>
                  <a:ext uri="{FF2B5EF4-FFF2-40B4-BE49-F238E27FC236}">
                    <a16:creationId xmlns:a16="http://schemas.microsoft.com/office/drawing/2014/main" id="{22BB939B-3477-F130-DC07-D72073BDBBF4}"/>
                  </a:ext>
                </a:extLst>
              </p:cNvPr>
              <p:cNvSpPr/>
              <p:nvPr/>
            </p:nvSpPr>
            <p:spPr>
              <a:xfrm>
                <a:off x="393310" y="1226031"/>
                <a:ext cx="3900678" cy="3060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kern="0" spc="200">
                    <a:solidFill>
                      <a:srgbClr val="007A33"/>
                    </a:solidFill>
                    <a:latin typeface="Cambria"/>
                    <a:ea typeface="Cambria"/>
                  </a:rPr>
                  <a:t>NEW FEATURES</a:t>
                </a:r>
              </a:p>
            </p:txBody>
          </p:sp>
          <p:sp>
            <p:nvSpPr>
              <p:cNvPr id="41" name="Text nfbody">
                <a:extLst>
                  <a:ext uri="{FF2B5EF4-FFF2-40B4-BE49-F238E27FC236}">
                    <a16:creationId xmlns:a16="http://schemas.microsoft.com/office/drawing/2014/main" id="{B2EEC023-4E53-35A0-5B69-EB960756E05D}"/>
                  </a:ext>
                </a:extLst>
              </p:cNvPr>
              <p:cNvSpPr/>
              <p:nvPr/>
            </p:nvSpPr>
            <p:spPr>
              <a:xfrm>
                <a:off x="393310" y="1615518"/>
                <a:ext cx="4339504" cy="472948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1A1E28"/>
                    </a:solidFill>
                    <a:latin typeface="Calibri"/>
                  </a:rPr>
                  <a:t>(U//FOUO) [New features delivered this period — describe capabilities, enhancements, and mission impact.]</a:t>
                </a:r>
              </a:p>
            </p:txBody>
          </p:sp>
          <p:sp>
            <p:nvSpPr>
              <p:cNvPr id="43" name="Shape impr">
                <a:extLst>
                  <a:ext uri="{FF2B5EF4-FFF2-40B4-BE49-F238E27FC236}">
                    <a16:creationId xmlns:a16="http://schemas.microsoft.com/office/drawing/2014/main" id="{C3B13BDE-C065-7D5C-C7F3-81C26E224E58}"/>
                  </a:ext>
                </a:extLst>
              </p:cNvPr>
              <p:cNvSpPr/>
              <p:nvPr/>
            </p:nvSpPr>
            <p:spPr>
              <a:xfrm>
                <a:off x="4945765" y="1184300"/>
                <a:ext cx="4559935" cy="28259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71A4"/>
                </a:solidFill>
                <a:prstDash val="solid"/>
              </a:ln>
            </p:spPr>
          </p:sp>
          <p:sp>
            <p:nvSpPr>
              <p:cNvPr id="45" name="Text imprlabel">
                <a:extLst>
                  <a:ext uri="{FF2B5EF4-FFF2-40B4-BE49-F238E27FC236}">
                    <a16:creationId xmlns:a16="http://schemas.microsoft.com/office/drawing/2014/main" id="{25E42DCA-5133-EBD5-0612-784C660C6AF5}"/>
                  </a:ext>
                </a:extLst>
              </p:cNvPr>
              <p:cNvSpPr/>
              <p:nvPr/>
            </p:nvSpPr>
            <p:spPr>
              <a:xfrm>
                <a:off x="5001261" y="1226031"/>
                <a:ext cx="4162213" cy="29650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kern="0" spc="200">
                    <a:solidFill>
                      <a:srgbClr val="0071A4"/>
                    </a:solidFill>
                    <a:latin typeface="Cambria"/>
                    <a:ea typeface="Cambria"/>
                  </a:rPr>
                  <a:t>IMPROVEMENTS</a:t>
                </a:r>
              </a:p>
            </p:txBody>
          </p:sp>
          <p:sp>
            <p:nvSpPr>
              <p:cNvPr id="47" name="Text imprbody">
                <a:extLst>
                  <a:ext uri="{FF2B5EF4-FFF2-40B4-BE49-F238E27FC236}">
                    <a16:creationId xmlns:a16="http://schemas.microsoft.com/office/drawing/2014/main" id="{C9489414-A65D-0A9D-C684-0EAC78EA0440}"/>
                  </a:ext>
                </a:extLst>
              </p:cNvPr>
              <p:cNvSpPr/>
              <p:nvPr/>
            </p:nvSpPr>
            <p:spPr>
              <a:xfrm>
                <a:off x="5001261" y="1615518"/>
                <a:ext cx="4458193" cy="22885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1A1E28"/>
                    </a:solidFill>
                    <a:latin typeface="Calibri"/>
                  </a:rPr>
                  <a:t>(U//FOUO) [Improvements, performance tuning, and backend hardening work this period.]</a:t>
                </a:r>
              </a:p>
            </p:txBody>
          </p:sp>
          <p:sp>
            <p:nvSpPr>
              <p:cNvPr id="48" name="Shape bugs">
                <a:extLst>
                  <a:ext uri="{FF2B5EF4-FFF2-40B4-BE49-F238E27FC236}">
                    <a16:creationId xmlns:a16="http://schemas.microsoft.com/office/drawing/2014/main" id="{4CE4A3DD-41FA-BA06-BD2D-DC7ED8605610}"/>
                  </a:ext>
                </a:extLst>
              </p:cNvPr>
              <p:cNvSpPr/>
              <p:nvPr/>
            </p:nvSpPr>
            <p:spPr>
              <a:xfrm>
                <a:off x="4945765" y="4202827"/>
                <a:ext cx="4559935" cy="226737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C0392B"/>
                </a:solidFill>
                <a:prstDash val="solid"/>
              </a:ln>
            </p:spPr>
          </p:sp>
          <p:sp>
            <p:nvSpPr>
              <p:cNvPr id="49" name="Text bugslabel">
                <a:extLst>
                  <a:ext uri="{FF2B5EF4-FFF2-40B4-BE49-F238E27FC236}">
                    <a16:creationId xmlns:a16="http://schemas.microsoft.com/office/drawing/2014/main" id="{DE397FD4-088E-FD3C-63E0-D1D55DF60E67}"/>
                  </a:ext>
                </a:extLst>
              </p:cNvPr>
              <p:cNvSpPr/>
              <p:nvPr/>
            </p:nvSpPr>
            <p:spPr>
              <a:xfrm>
                <a:off x="5001261" y="4244558"/>
                <a:ext cx="4162213" cy="3060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kern="0" spc="200">
                    <a:solidFill>
                      <a:srgbClr val="C0392B"/>
                    </a:solidFill>
                    <a:latin typeface="Cambria"/>
                    <a:ea typeface="Cambria"/>
                  </a:rPr>
                  <a:t>BUG FIXES</a:t>
                </a:r>
              </a:p>
            </p:txBody>
          </p:sp>
          <p:sp>
            <p:nvSpPr>
              <p:cNvPr id="50" name="Text bugsbody">
                <a:extLst>
                  <a:ext uri="{FF2B5EF4-FFF2-40B4-BE49-F238E27FC236}">
                    <a16:creationId xmlns:a16="http://schemas.microsoft.com/office/drawing/2014/main" id="{49C08418-ED27-5CA0-56C7-71EA62BF1BCD}"/>
                  </a:ext>
                </a:extLst>
              </p:cNvPr>
              <p:cNvSpPr/>
              <p:nvPr/>
            </p:nvSpPr>
            <p:spPr>
              <a:xfrm>
                <a:off x="5001261" y="4620135"/>
                <a:ext cx="4458193" cy="173878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200">
                    <a:solidFill>
                      <a:srgbClr val="1A1E28"/>
                    </a:solidFill>
                    <a:latin typeface="Calibri"/>
                  </a:rPr>
                  <a:t>(U//FOUO) [</a:t>
                </a:r>
                <a:r>
                  <a:rPr lang="en-US" sz="1300">
                    <a:solidFill>
                      <a:srgbClr val="1A1E28"/>
                    </a:solidFill>
                    <a:latin typeface="Calibri"/>
                  </a:rPr>
                  <a:t>Bugs</a:t>
                </a:r>
                <a:r>
                  <a:rPr lang="en-US" sz="1200">
                    <a:solidFill>
                      <a:srgbClr val="1A1E28"/>
                    </a:solidFill>
                    <a:latin typeface="Calibri"/>
                  </a:rPr>
                  <a:t> resolved or blockers addressed this period. If none, state NSTR.]</a:t>
                </a:r>
              </a:p>
            </p:txBody>
          </p:sp>
        </p:grpSp>
        <p:sp>
          <p:nvSpPr>
            <p:cNvPr id="11" name="Shape nfpanel">
              <a:extLst>
                <a:ext uri="{FF2B5EF4-FFF2-40B4-BE49-F238E27FC236}">
                  <a16:creationId xmlns:a16="http://schemas.microsoft.com/office/drawing/2014/main" id="{FF643910-00AF-F725-630D-14FEA2BF5FE4}"/>
                </a:ext>
              </a:extLst>
            </p:cNvPr>
            <p:cNvSpPr/>
            <p:nvPr/>
          </p:nvSpPr>
          <p:spPr>
            <a:xfrm>
              <a:off x="9753356" y="996696"/>
              <a:ext cx="2438339" cy="5660136"/>
            </a:xfrm>
            <a:prstGeom prst="rect">
              <a:avLst/>
            </a:prstGeom>
            <a:solidFill>
              <a:srgbClr val="1E2736"/>
            </a:solidFill>
            <a:ln w="12700">
              <a:solidFill>
                <a:srgbClr val="1E2736"/>
              </a:solidFill>
              <a:prstDash val="solid"/>
            </a:ln>
          </p:spPr>
        </p:sp>
        <p:sp>
          <p:nvSpPr>
            <p:cNvPr id="18" name="Shape nfaccent">
              <a:extLst>
                <a:ext uri="{FF2B5EF4-FFF2-40B4-BE49-F238E27FC236}">
                  <a16:creationId xmlns:a16="http://schemas.microsoft.com/office/drawing/2014/main" id="{F9F7BE47-BEEF-57E8-6999-ACBD72EC4268}"/>
                </a:ext>
              </a:extLst>
            </p:cNvPr>
            <p:cNvSpPr/>
            <p:nvPr/>
          </p:nvSpPr>
          <p:spPr>
            <a:xfrm>
              <a:off x="9753356" y="996696"/>
              <a:ext cx="54864" cy="5660136"/>
            </a:xfrm>
            <a:prstGeom prst="rect">
              <a:avLst/>
            </a:prstGeom>
            <a:solidFill>
              <a:srgbClr val="F5A800"/>
            </a:solidFill>
            <a:ln w="12700">
              <a:solidFill>
                <a:srgbClr val="F5A800"/>
              </a:solidFill>
              <a:prstDash val="solid"/>
            </a:ln>
          </p:spPr>
        </p:sp>
        <p:sp>
          <p:nvSpPr>
            <p:cNvPr id="19" name="Text nflabel">
              <a:extLst>
                <a:ext uri="{FF2B5EF4-FFF2-40B4-BE49-F238E27FC236}">
                  <a16:creationId xmlns:a16="http://schemas.microsoft.com/office/drawing/2014/main" id="{AAFA1FA9-8CF1-73FD-42D6-E4074908EE64}"/>
                </a:ext>
              </a:extLst>
            </p:cNvPr>
            <p:cNvSpPr/>
            <p:nvPr/>
          </p:nvSpPr>
          <p:spPr>
            <a:xfrm>
              <a:off x="9899660" y="1179576"/>
              <a:ext cx="221888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150">
                  <a:solidFill>
                    <a:srgbClr val="F5A800"/>
                  </a:solidFill>
                  <a:latin typeface="Cambria"/>
                  <a:ea typeface="Cambria"/>
                </a:rPr>
                <a:t>NEAR-FUTURE</a:t>
              </a:r>
            </a:p>
          </p:txBody>
        </p:sp>
        <p:sp>
          <p:nvSpPr>
            <p:cNvPr id="20" name="Text nftasks">
              <a:extLst>
                <a:ext uri="{FF2B5EF4-FFF2-40B4-BE49-F238E27FC236}">
                  <a16:creationId xmlns:a16="http://schemas.microsoft.com/office/drawing/2014/main" id="{0B6C2A7F-35C5-B172-DB6C-5032016BFA4B}"/>
                </a:ext>
              </a:extLst>
            </p:cNvPr>
            <p:cNvSpPr/>
            <p:nvPr/>
          </p:nvSpPr>
          <p:spPr>
            <a:xfrm>
              <a:off x="9899660" y="1435608"/>
              <a:ext cx="2218883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kern="0" spc="200">
                  <a:solidFill>
                    <a:srgbClr val="FFFFFF"/>
                  </a:solidFill>
                  <a:latin typeface="Calibri" pitchFamily="34" charset="0"/>
                </a:rPr>
                <a:t>TASKS</a:t>
              </a:r>
            </a:p>
          </p:txBody>
        </p:sp>
        <p:sp>
          <p:nvSpPr>
            <p:cNvPr id="21" name="Shape divider">
              <a:extLst>
                <a:ext uri="{FF2B5EF4-FFF2-40B4-BE49-F238E27FC236}">
                  <a16:creationId xmlns:a16="http://schemas.microsoft.com/office/drawing/2014/main" id="{C1288CD7-F746-E3C7-F86E-5A005108CF21}"/>
                </a:ext>
              </a:extLst>
            </p:cNvPr>
            <p:cNvSpPr/>
            <p:nvPr/>
          </p:nvSpPr>
          <p:spPr>
            <a:xfrm>
              <a:off x="9899660" y="1947672"/>
              <a:ext cx="2164019" cy="22860"/>
            </a:xfrm>
            <a:prstGeom prst="rect">
              <a:avLst/>
            </a:prstGeom>
            <a:solidFill>
              <a:srgbClr val="2E3A50"/>
            </a:solidFill>
            <a:ln w="12700">
              <a:solidFill>
                <a:srgbClr val="2E3A50"/>
              </a:solidFill>
              <a:prstDash val="solid"/>
            </a:ln>
          </p:spPr>
        </p:sp>
        <p:sp>
          <p:nvSpPr>
            <p:cNvPr id="35" name="Shape dot0">
              <a:extLst>
                <a:ext uri="{FF2B5EF4-FFF2-40B4-BE49-F238E27FC236}">
                  <a16:creationId xmlns:a16="http://schemas.microsoft.com/office/drawing/2014/main" id="{F38426AD-21A0-3B0E-DB99-C427D77CFD7C}"/>
                </a:ext>
              </a:extLst>
            </p:cNvPr>
            <p:cNvSpPr/>
            <p:nvPr/>
          </p:nvSpPr>
          <p:spPr>
            <a:xfrm>
              <a:off x="9899660" y="2167128"/>
              <a:ext cx="41911" cy="51435"/>
            </a:xfrm>
            <a:prstGeom prst="ellipse">
              <a:avLst/>
            </a:prstGeom>
            <a:solidFill>
              <a:srgbClr val="F5A800"/>
            </a:solidFill>
            <a:ln w="12700">
              <a:solidFill>
                <a:srgbClr val="F5A800"/>
              </a:solidFill>
              <a:prstDash val="solid"/>
            </a:ln>
          </p:spPr>
        </p:sp>
        <p:sp>
          <p:nvSpPr>
            <p:cNvPr id="36" name="Text task0">
              <a:extLst>
                <a:ext uri="{FF2B5EF4-FFF2-40B4-BE49-F238E27FC236}">
                  <a16:creationId xmlns:a16="http://schemas.microsoft.com/office/drawing/2014/main" id="{AEC9C015-D379-E40E-6ED1-C4062A1D4094}"/>
                </a:ext>
              </a:extLst>
            </p:cNvPr>
            <p:cNvSpPr/>
            <p:nvPr/>
          </p:nvSpPr>
          <p:spPr>
            <a:xfrm>
              <a:off x="9998339" y="2093976"/>
              <a:ext cx="2083628" cy="6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>
                  <a:solidFill>
                    <a:srgbClr val="D8DCE8"/>
                  </a:solidFill>
                  <a:latin typeface="Calibri" pitchFamily="34" charset="0"/>
                </a:rPr>
                <a:t>(U//FOUO) [Near-future task 1]</a:t>
              </a:r>
            </a:p>
          </p:txBody>
        </p:sp>
        <p:sp>
          <p:nvSpPr>
            <p:cNvPr id="37" name="Shape dot1">
              <a:extLst>
                <a:ext uri="{FF2B5EF4-FFF2-40B4-BE49-F238E27FC236}">
                  <a16:creationId xmlns:a16="http://schemas.microsoft.com/office/drawing/2014/main" id="{4721A615-1F39-4830-28F7-974063B0A13D}"/>
                </a:ext>
              </a:extLst>
            </p:cNvPr>
            <p:cNvSpPr/>
            <p:nvPr/>
          </p:nvSpPr>
          <p:spPr>
            <a:xfrm>
              <a:off x="9899660" y="2900568"/>
              <a:ext cx="41911" cy="51435"/>
            </a:xfrm>
            <a:prstGeom prst="ellipse">
              <a:avLst/>
            </a:prstGeom>
            <a:solidFill>
              <a:srgbClr val="F5A800"/>
            </a:solidFill>
            <a:ln w="12700">
              <a:solidFill>
                <a:srgbClr val="F5A800"/>
              </a:solidFill>
              <a:prstDash val="solid"/>
            </a:ln>
          </p:spPr>
        </p:sp>
        <p:sp>
          <p:nvSpPr>
            <p:cNvPr id="38" name="Text task1">
              <a:extLst>
                <a:ext uri="{FF2B5EF4-FFF2-40B4-BE49-F238E27FC236}">
                  <a16:creationId xmlns:a16="http://schemas.microsoft.com/office/drawing/2014/main" id="{0E1E5754-7C5C-BA8D-E05D-7F0328F4A81C}"/>
                </a:ext>
              </a:extLst>
            </p:cNvPr>
            <p:cNvSpPr/>
            <p:nvPr/>
          </p:nvSpPr>
          <p:spPr>
            <a:xfrm>
              <a:off x="9998339" y="2827416"/>
              <a:ext cx="2083628" cy="6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>
                  <a:solidFill>
                    <a:srgbClr val="D8DCE8"/>
                  </a:solidFill>
                  <a:latin typeface="Calibri" pitchFamily="34" charset="0"/>
                </a:rPr>
                <a:t>(U//FOUO) [Near-future task 2]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3474720" cy="6455664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64008" cy="6455664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384048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>
                <a:solidFill>
                  <a:srgbClr val="FFFFFF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0"/>
          </a:p>
        </p:txBody>
      </p:sp>
      <p:sp>
        <p:nvSpPr>
          <p:cNvPr id="9" name="Text 7"/>
          <p:cNvSpPr/>
          <p:nvPr/>
        </p:nvSpPr>
        <p:spPr>
          <a:xfrm>
            <a:off x="164592" y="70408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0"/>
          </a:p>
        </p:txBody>
      </p:sp>
      <p:sp>
        <p:nvSpPr>
          <p:cNvPr id="10" name="Text 8"/>
          <p:cNvSpPr/>
          <p:nvPr/>
        </p:nvSpPr>
        <p:spPr>
          <a:xfrm>
            <a:off x="164592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kern="0" spc="2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DELIVERABLES</a:t>
            </a:r>
            <a:endParaRPr lang="en-US" sz="170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01675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794760" y="475488"/>
            <a:ext cx="81591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50">
                <a:solidFill>
                  <a:srgbClr val="0071A4"/>
                </a:solidFill>
                <a:latin typeface="Cambria"/>
                <a:ea typeface="Cambria"/>
                <a:cs typeface="Courier New"/>
              </a:rPr>
              <a:t>TIER 1</a:t>
            </a:r>
            <a:endParaRPr lang="en-US">
              <a:latin typeface="Cambria"/>
              <a:ea typeface="Cambri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794760" y="694944"/>
            <a:ext cx="8159191" cy="20117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94760" y="768096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58768" y="768096"/>
            <a:ext cx="4572076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Milestone Roadmap</a:t>
            </a:r>
            <a:endParaRPr lang="en-US" sz="1800"/>
          </a:p>
        </p:txBody>
      </p:sp>
      <p:sp>
        <p:nvSpPr>
          <p:cNvPr id="17" name="Shape 14"/>
          <p:cNvSpPr/>
          <p:nvPr/>
        </p:nvSpPr>
        <p:spPr>
          <a:xfrm>
            <a:off x="3794760" y="1437894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58768" y="1437894"/>
            <a:ext cx="4572076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Migration</a:t>
            </a:r>
            <a:endParaRPr lang="en-US" sz="1800"/>
          </a:p>
        </p:txBody>
      </p:sp>
      <p:sp>
        <p:nvSpPr>
          <p:cNvPr id="19" name="Shape 16"/>
          <p:cNvSpPr/>
          <p:nvPr/>
        </p:nvSpPr>
        <p:spPr>
          <a:xfrm>
            <a:off x="3794760" y="2107692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58768" y="2107692"/>
            <a:ext cx="4572076" cy="377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Modernization – DX</a:t>
            </a:r>
            <a:endParaRPr lang="en-US" sz="1800"/>
          </a:p>
        </p:txBody>
      </p:sp>
      <p:sp>
        <p:nvSpPr>
          <p:cNvPr id="21" name="Shape 18"/>
          <p:cNvSpPr/>
          <p:nvPr/>
        </p:nvSpPr>
        <p:spPr>
          <a:xfrm>
            <a:off x="3794760" y="2777490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58768" y="2777490"/>
            <a:ext cx="4572076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Modernization – LX</a:t>
            </a:r>
            <a:endParaRPr lang="en-US" sz="1800"/>
          </a:p>
        </p:txBody>
      </p:sp>
      <p:sp>
        <p:nvSpPr>
          <p:cNvPr id="23" name="Shape 20"/>
          <p:cNvSpPr/>
          <p:nvPr/>
        </p:nvSpPr>
        <p:spPr>
          <a:xfrm>
            <a:off x="3794760" y="3447288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58768" y="3447288"/>
            <a:ext cx="4572076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Modernization – RC</a:t>
            </a:r>
            <a:endParaRPr lang="en-US" sz="1800"/>
          </a:p>
        </p:txBody>
      </p:sp>
      <p:sp>
        <p:nvSpPr>
          <p:cNvPr id="25" name="Shape 22"/>
          <p:cNvSpPr/>
          <p:nvPr/>
        </p:nvSpPr>
        <p:spPr>
          <a:xfrm>
            <a:off x="3794760" y="4117086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58768" y="4117086"/>
            <a:ext cx="4572076" cy="377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GCENext</a:t>
            </a:r>
            <a:endParaRPr lang="en-US" sz="1800"/>
          </a:p>
        </p:txBody>
      </p:sp>
      <p:sp>
        <p:nvSpPr>
          <p:cNvPr id="27" name="Shape 24"/>
          <p:cNvSpPr/>
          <p:nvPr/>
        </p:nvSpPr>
        <p:spPr>
          <a:xfrm>
            <a:off x="3794760" y="4786884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58768" y="4786884"/>
            <a:ext cx="4572076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Nanostorm T&amp;D</a:t>
            </a:r>
            <a:endParaRPr lang="en-US" sz="1800"/>
          </a:p>
        </p:txBody>
      </p:sp>
      <p:sp>
        <p:nvSpPr>
          <p:cNvPr id="29" name="Shape 26"/>
          <p:cNvSpPr/>
          <p:nvPr/>
        </p:nvSpPr>
        <p:spPr>
          <a:xfrm>
            <a:off x="3794760" y="5456682"/>
            <a:ext cx="22860" cy="3683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58768" y="5456682"/>
            <a:ext cx="4572076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1E2736"/>
                </a:solidFill>
                <a:latin typeface="Calibri"/>
                <a:ea typeface="Calibri"/>
                <a:cs typeface="Calibri"/>
              </a:rPr>
              <a:t>Sensitive Data Protection</a:t>
            </a:r>
            <a:endParaRPr 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(U) Tier 1 – Priority 1 – HCI Migration</a:t>
            </a:r>
            <a:endParaRPr lang="en-US" sz="2200"/>
          </a:p>
        </p:txBody>
      </p:sp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" y="1345311"/>
            <a:ext cx="100584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744" y="1345311"/>
            <a:ext cx="54864" cy="152400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" y="1345311"/>
            <a:ext cx="100584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</a:t>
            </a:r>
            <a:endParaRPr lang="en-US" sz="2600"/>
          </a:p>
        </p:txBody>
      </p:sp>
      <p:sp>
        <p:nvSpPr>
          <p:cNvPr id="15" name="Text 12"/>
          <p:cNvSpPr/>
          <p:nvPr/>
        </p:nvSpPr>
        <p:spPr>
          <a:xfrm>
            <a:off x="292608" y="2259711"/>
            <a:ext cx="91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DataXplorer</a:t>
            </a:r>
            <a:endParaRPr lang="en-US" sz="1000"/>
          </a:p>
        </p:txBody>
      </p:sp>
      <p:sp>
        <p:nvSpPr>
          <p:cNvPr id="16" name="Shape 13"/>
          <p:cNvSpPr/>
          <p:nvPr/>
        </p:nvSpPr>
        <p:spPr>
          <a:xfrm>
            <a:off x="1316736" y="1345311"/>
            <a:ext cx="8198876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16736" y="1345311"/>
            <a:ext cx="8198876" cy="27432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44752" y="1473327"/>
            <a:ext cx="7942844" cy="99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[DX HCI — migration milestones, vulnerability mitigations, and DX3→DX4 database transition status this period.]</a:t>
            </a:r>
            <a:endParaRPr lang="en-US" sz="1300"/>
          </a:p>
        </p:txBody>
      </p:sp>
      <p:sp>
        <p:nvSpPr>
          <p:cNvPr id="25" name="Shape 22"/>
          <p:cNvSpPr/>
          <p:nvPr/>
        </p:nvSpPr>
        <p:spPr>
          <a:xfrm>
            <a:off x="237744" y="3058287"/>
            <a:ext cx="100584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37744" y="3058287"/>
            <a:ext cx="54864" cy="1524000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7744" y="3058287"/>
            <a:ext cx="100584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>
                <a:solidFill>
                  <a:srgbClr val="29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</a:t>
            </a:r>
            <a:endParaRPr lang="en-US" sz="2600"/>
          </a:p>
        </p:txBody>
      </p:sp>
      <p:sp>
        <p:nvSpPr>
          <p:cNvPr id="28" name="Text 25"/>
          <p:cNvSpPr/>
          <p:nvPr/>
        </p:nvSpPr>
        <p:spPr>
          <a:xfrm>
            <a:off x="292608" y="3972687"/>
            <a:ext cx="91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9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LinkXplorer</a:t>
            </a:r>
            <a:endParaRPr lang="en-US" sz="1000"/>
          </a:p>
        </p:txBody>
      </p:sp>
      <p:sp>
        <p:nvSpPr>
          <p:cNvPr id="29" name="Shape 26"/>
          <p:cNvSpPr/>
          <p:nvPr/>
        </p:nvSpPr>
        <p:spPr>
          <a:xfrm>
            <a:off x="1316736" y="3058287"/>
            <a:ext cx="8198876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316736" y="3058287"/>
            <a:ext cx="8198876" cy="27432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444752" y="3186303"/>
            <a:ext cx="7942844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[LX HCI — WANDS-TS deployment progress and HCI follow-on tasks completed this period.]</a:t>
            </a:r>
            <a:endParaRPr lang="en-US" sz="1300"/>
          </a:p>
        </p:txBody>
      </p:sp>
      <p:sp>
        <p:nvSpPr>
          <p:cNvPr id="36" name="Shape 33"/>
          <p:cNvSpPr/>
          <p:nvPr/>
        </p:nvSpPr>
        <p:spPr>
          <a:xfrm>
            <a:off x="237744" y="4761738"/>
            <a:ext cx="100584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7744" y="4761738"/>
            <a:ext cx="54864" cy="1524000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37744" y="4761738"/>
            <a:ext cx="100584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>
                <a:solidFill>
                  <a:srgbClr val="6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2600"/>
          </a:p>
        </p:txBody>
      </p:sp>
      <p:sp>
        <p:nvSpPr>
          <p:cNvPr id="39" name="Text 36"/>
          <p:cNvSpPr/>
          <p:nvPr/>
        </p:nvSpPr>
        <p:spPr>
          <a:xfrm>
            <a:off x="292608" y="5676138"/>
            <a:ext cx="91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6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Rollercoaster</a:t>
            </a:r>
            <a:endParaRPr lang="en-US" sz="1000"/>
          </a:p>
        </p:txBody>
      </p:sp>
      <p:sp>
        <p:nvSpPr>
          <p:cNvPr id="40" name="Shape 37"/>
          <p:cNvSpPr/>
          <p:nvPr/>
        </p:nvSpPr>
        <p:spPr>
          <a:xfrm>
            <a:off x="1316736" y="4761738"/>
            <a:ext cx="8198876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316736" y="4761738"/>
            <a:ext cx="8198876" cy="27432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444752" y="4889754"/>
            <a:ext cx="7942844" cy="99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[RC HCI — EKS preparation, WANDS-TS rehosting, and INT-C rehosting progress this period.]</a:t>
            </a:r>
            <a:endParaRPr lang="en-US" sz="1300"/>
          </a:p>
        </p:txBody>
      </p:sp>
      <p:sp>
        <p:nvSpPr>
          <p:cNvPr id="49" name="Shape 46"/>
          <p:cNvSpPr/>
          <p:nvPr/>
        </p:nvSpPr>
        <p:spPr>
          <a:xfrm>
            <a:off x="9753356" y="996696"/>
            <a:ext cx="2438339" cy="5660136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753356" y="996696"/>
            <a:ext cx="54864" cy="566013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899660" y="1179576"/>
            <a:ext cx="2218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F5A800"/>
                </a:solidFill>
                <a:latin typeface="Cambria"/>
                <a:ea typeface="Cambria"/>
                <a:cs typeface="Courier New" pitchFamily="34" charset="-120"/>
              </a:rPr>
              <a:t>NEAR-FUTURE</a:t>
            </a:r>
            <a:endParaRPr lang="en-US" sz="1100">
              <a:latin typeface="Cambria"/>
              <a:ea typeface="Cambria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9899660" y="1435608"/>
            <a:ext cx="22188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3000"/>
          </a:p>
        </p:txBody>
      </p:sp>
      <p:sp>
        <p:nvSpPr>
          <p:cNvPr id="53" name="Shape 50"/>
          <p:cNvSpPr/>
          <p:nvPr/>
        </p:nvSpPr>
        <p:spPr>
          <a:xfrm>
            <a:off x="9899660" y="1947672"/>
            <a:ext cx="2164019" cy="22860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899660" y="2167128"/>
            <a:ext cx="41911" cy="51436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045964" y="2093976"/>
            <a:ext cx="2036003" cy="142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All teams standby for production cutover — go/no-go criteria confirmed.</a:t>
            </a:r>
            <a:endParaRPr lang="en-US" sz="1200"/>
          </a:p>
        </p:txBody>
      </p:sp>
      <p:sp>
        <p:nvSpPr>
          <p:cNvPr id="56" name="Shape 53"/>
          <p:cNvSpPr/>
          <p:nvPr/>
        </p:nvSpPr>
        <p:spPr>
          <a:xfrm>
            <a:off x="9899660" y="3541776"/>
            <a:ext cx="2164019" cy="16459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899660" y="3706368"/>
            <a:ext cx="41911" cy="41911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0045964" y="3633216"/>
            <a:ext cx="2036003" cy="142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CVE mitigations continue as items arise across all environments.</a:t>
            </a:r>
            <a:endParaRPr lang="en-US" sz="1200"/>
          </a:p>
        </p:txBody>
      </p:sp>
      <p:sp>
        <p:nvSpPr>
          <p:cNvPr id="59" name="Shape 56"/>
          <p:cNvSpPr/>
          <p:nvPr/>
        </p:nvSpPr>
        <p:spPr>
          <a:xfrm>
            <a:off x="9899660" y="5081016"/>
            <a:ext cx="2164019" cy="16459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899660" y="5245608"/>
            <a:ext cx="41911" cy="51436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045964" y="5172456"/>
            <a:ext cx="2036003" cy="142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INT-C cutover readiness review — April 7 target.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(U) Tier 1 – GCENext</a:t>
            </a:r>
            <a:endParaRPr lang="en-US" sz="2200"/>
          </a:p>
        </p:txBody>
      </p:sp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F58D6EF-9BAA-B312-A3C7-7AF8278894ED}"/>
              </a:ext>
            </a:extLst>
          </p:cNvPr>
          <p:cNvGrpSpPr/>
          <p:nvPr/>
        </p:nvGrpSpPr>
        <p:grpSpPr>
          <a:xfrm>
            <a:off x="266319" y="1088136"/>
            <a:ext cx="11335269" cy="273558"/>
            <a:chOff x="237744" y="1088136"/>
            <a:chExt cx="9277868" cy="292608"/>
          </a:xfrm>
        </p:grpSpPr>
        <p:sp>
          <p:nvSpPr>
            <p:cNvPr id="12" name="Shape 9"/>
            <p:cNvSpPr/>
            <p:nvPr/>
          </p:nvSpPr>
          <p:spPr>
            <a:xfrm>
              <a:off x="237744" y="1088136"/>
              <a:ext cx="9277868" cy="292608"/>
            </a:xfrm>
            <a:prstGeom prst="rect">
              <a:avLst/>
            </a:prstGeom>
            <a:solidFill>
              <a:srgbClr val="F0EDE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13" name="Text 10"/>
            <p:cNvSpPr/>
            <p:nvPr/>
          </p:nvSpPr>
          <p:spPr>
            <a:xfrm>
              <a:off x="676656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JAN</a:t>
              </a:r>
              <a:endParaRPr lang="en-US" sz="1000"/>
            </a:p>
          </p:txBody>
        </p:sp>
        <p:sp>
          <p:nvSpPr>
            <p:cNvPr id="14" name="Shape 11"/>
            <p:cNvSpPr/>
            <p:nvPr/>
          </p:nvSpPr>
          <p:spPr>
            <a:xfrm>
              <a:off x="1413236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15" name="Text 12"/>
            <p:cNvSpPr/>
            <p:nvPr/>
          </p:nvSpPr>
          <p:spPr>
            <a:xfrm>
              <a:off x="1413236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FEB</a:t>
              </a:r>
              <a:endParaRPr lang="en-US" sz="1000"/>
            </a:p>
          </p:txBody>
        </p:sp>
        <p:sp>
          <p:nvSpPr>
            <p:cNvPr id="16" name="Shape 13"/>
            <p:cNvSpPr/>
            <p:nvPr/>
          </p:nvSpPr>
          <p:spPr>
            <a:xfrm>
              <a:off x="2149815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17" name="Text 14"/>
            <p:cNvSpPr/>
            <p:nvPr/>
          </p:nvSpPr>
          <p:spPr>
            <a:xfrm>
              <a:off x="2149815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0071A4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MAR</a:t>
              </a:r>
              <a:endParaRPr lang="en-US" sz="1000"/>
            </a:p>
          </p:txBody>
        </p:sp>
        <p:sp>
          <p:nvSpPr>
            <p:cNvPr id="18" name="Shape 15"/>
            <p:cNvSpPr/>
            <p:nvPr/>
          </p:nvSpPr>
          <p:spPr>
            <a:xfrm>
              <a:off x="2149815" y="1088136"/>
              <a:ext cx="736580" cy="22860"/>
            </a:xfrm>
            <a:prstGeom prst="rect">
              <a:avLst/>
            </a:prstGeom>
            <a:solidFill>
              <a:srgbClr val="0071A4"/>
            </a:solidFill>
            <a:ln w="12700">
              <a:solidFill>
                <a:srgbClr val="0071A4"/>
              </a:solidFill>
              <a:prstDash val="solid"/>
            </a:ln>
          </p:spPr>
        </p:sp>
        <p:sp>
          <p:nvSpPr>
            <p:cNvPr id="19" name="Shape 16"/>
            <p:cNvSpPr/>
            <p:nvPr/>
          </p:nvSpPr>
          <p:spPr>
            <a:xfrm>
              <a:off x="2886395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20" name="Text 17"/>
            <p:cNvSpPr/>
            <p:nvPr/>
          </p:nvSpPr>
          <p:spPr>
            <a:xfrm>
              <a:off x="2886395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APR</a:t>
              </a:r>
              <a:endParaRPr lang="en-US" sz="1000"/>
            </a:p>
          </p:txBody>
        </p:sp>
        <p:sp>
          <p:nvSpPr>
            <p:cNvPr id="21" name="Shape 18"/>
            <p:cNvSpPr/>
            <p:nvPr/>
          </p:nvSpPr>
          <p:spPr>
            <a:xfrm>
              <a:off x="3622975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22" name="Text 19"/>
            <p:cNvSpPr/>
            <p:nvPr/>
          </p:nvSpPr>
          <p:spPr>
            <a:xfrm>
              <a:off x="3622975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MAY</a:t>
              </a:r>
              <a:endParaRPr lang="en-US" sz="1000"/>
            </a:p>
          </p:txBody>
        </p:sp>
        <p:sp>
          <p:nvSpPr>
            <p:cNvPr id="23" name="Shape 20"/>
            <p:cNvSpPr/>
            <p:nvPr/>
          </p:nvSpPr>
          <p:spPr>
            <a:xfrm>
              <a:off x="4359554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24" name="Text 21"/>
            <p:cNvSpPr/>
            <p:nvPr/>
          </p:nvSpPr>
          <p:spPr>
            <a:xfrm>
              <a:off x="4359554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JUN</a:t>
              </a:r>
              <a:endParaRPr lang="en-US" sz="1000"/>
            </a:p>
          </p:txBody>
        </p:sp>
        <p:sp>
          <p:nvSpPr>
            <p:cNvPr id="25" name="Shape 22"/>
            <p:cNvSpPr/>
            <p:nvPr/>
          </p:nvSpPr>
          <p:spPr>
            <a:xfrm>
              <a:off x="5096134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26" name="Text 23"/>
            <p:cNvSpPr/>
            <p:nvPr/>
          </p:nvSpPr>
          <p:spPr>
            <a:xfrm>
              <a:off x="5096134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JUL</a:t>
              </a:r>
              <a:endParaRPr lang="en-US" sz="1000"/>
            </a:p>
          </p:txBody>
        </p:sp>
        <p:sp>
          <p:nvSpPr>
            <p:cNvPr id="27" name="Shape 24"/>
            <p:cNvSpPr/>
            <p:nvPr/>
          </p:nvSpPr>
          <p:spPr>
            <a:xfrm>
              <a:off x="5832714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28" name="Text 25"/>
            <p:cNvSpPr/>
            <p:nvPr/>
          </p:nvSpPr>
          <p:spPr>
            <a:xfrm>
              <a:off x="5832714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AUG</a:t>
              </a:r>
              <a:endParaRPr lang="en-US" sz="1000"/>
            </a:p>
          </p:txBody>
        </p:sp>
        <p:sp>
          <p:nvSpPr>
            <p:cNvPr id="29" name="Shape 26"/>
            <p:cNvSpPr/>
            <p:nvPr/>
          </p:nvSpPr>
          <p:spPr>
            <a:xfrm>
              <a:off x="6569293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30" name="Text 27"/>
            <p:cNvSpPr/>
            <p:nvPr/>
          </p:nvSpPr>
          <p:spPr>
            <a:xfrm>
              <a:off x="6569293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SEP</a:t>
              </a:r>
              <a:endParaRPr lang="en-US" sz="1000"/>
            </a:p>
          </p:txBody>
        </p:sp>
        <p:sp>
          <p:nvSpPr>
            <p:cNvPr id="31" name="Shape 28"/>
            <p:cNvSpPr/>
            <p:nvPr/>
          </p:nvSpPr>
          <p:spPr>
            <a:xfrm>
              <a:off x="7305873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32" name="Text 29"/>
            <p:cNvSpPr/>
            <p:nvPr/>
          </p:nvSpPr>
          <p:spPr>
            <a:xfrm>
              <a:off x="7305873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OCT</a:t>
              </a:r>
              <a:endParaRPr lang="en-US" sz="1000"/>
            </a:p>
          </p:txBody>
        </p:sp>
        <p:sp>
          <p:nvSpPr>
            <p:cNvPr id="33" name="Shape 30"/>
            <p:cNvSpPr/>
            <p:nvPr/>
          </p:nvSpPr>
          <p:spPr>
            <a:xfrm>
              <a:off x="8042453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34" name="Text 31"/>
            <p:cNvSpPr/>
            <p:nvPr/>
          </p:nvSpPr>
          <p:spPr>
            <a:xfrm>
              <a:off x="8042453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NOV</a:t>
              </a:r>
              <a:endParaRPr lang="en-US" sz="1000"/>
            </a:p>
          </p:txBody>
        </p:sp>
        <p:sp>
          <p:nvSpPr>
            <p:cNvPr id="35" name="Shape 32"/>
            <p:cNvSpPr/>
            <p:nvPr/>
          </p:nvSpPr>
          <p:spPr>
            <a:xfrm>
              <a:off x="8779032" y="1088136"/>
              <a:ext cx="9144" cy="292608"/>
            </a:xfrm>
            <a:prstGeom prst="rect">
              <a:avLst/>
            </a:prstGeom>
            <a:solidFill>
              <a:srgbClr val="D4CFC8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36" name="Text 33"/>
            <p:cNvSpPr/>
            <p:nvPr/>
          </p:nvSpPr>
          <p:spPr>
            <a:xfrm>
              <a:off x="8779032" y="1088136"/>
              <a:ext cx="7365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>
                  <a:solidFill>
                    <a:srgbClr val="5A607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DEC</a:t>
              </a:r>
              <a:endParaRPr lang="en-US" sz="1000"/>
            </a:p>
          </p:txBody>
        </p:sp>
      </p:grpSp>
      <p:sp>
        <p:nvSpPr>
          <p:cNvPr id="37" name="Text 34"/>
          <p:cNvSpPr/>
          <p:nvPr/>
        </p:nvSpPr>
        <p:spPr>
          <a:xfrm>
            <a:off x="1875495" y="1363218"/>
            <a:ext cx="11023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1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NOW</a:t>
            </a:r>
            <a:endParaRPr lang="en-US" sz="1000"/>
          </a:p>
        </p:txBody>
      </p:sp>
      <p:sp>
        <p:nvSpPr>
          <p:cNvPr id="38" name="Shape 35"/>
          <p:cNvSpPr/>
          <p:nvPr/>
        </p:nvSpPr>
        <p:spPr>
          <a:xfrm>
            <a:off x="237744" y="1435608"/>
            <a:ext cx="384048" cy="775716"/>
          </a:xfrm>
          <a:prstGeom prst="rect">
            <a:avLst/>
          </a:prstGeom>
          <a:solidFill>
            <a:srgbClr val="FFFFFF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7744" y="1435608"/>
            <a:ext cx="45720" cy="775716"/>
          </a:xfrm>
          <a:prstGeom prst="rect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37744" y="1435608"/>
            <a:ext cx="384048" cy="7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PH1</a:t>
            </a:r>
            <a:endParaRPr lang="en-US" sz="1000"/>
          </a:p>
        </p:txBody>
      </p:sp>
      <p:sp>
        <p:nvSpPr>
          <p:cNvPr id="41" name="Shape 38"/>
          <p:cNvSpPr/>
          <p:nvPr/>
        </p:nvSpPr>
        <p:spPr>
          <a:xfrm>
            <a:off x="676656" y="1814322"/>
            <a:ext cx="10968736" cy="18288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62650" y="1741170"/>
            <a:ext cx="164592" cy="164592"/>
          </a:xfrm>
          <a:prstGeom prst="ellipse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79770" y="191490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000"/>
          </a:p>
        </p:txBody>
      </p:sp>
      <p:sp>
        <p:nvSpPr>
          <p:cNvPr id="44" name="Shape 41"/>
          <p:cNvSpPr/>
          <p:nvPr/>
        </p:nvSpPr>
        <p:spPr>
          <a:xfrm>
            <a:off x="1699230" y="1741170"/>
            <a:ext cx="164592" cy="164592"/>
          </a:xfrm>
          <a:prstGeom prst="ellipse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516350" y="191490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Complete</a:t>
            </a:r>
            <a:endParaRPr lang="en-US" sz="1000"/>
          </a:p>
        </p:txBody>
      </p:sp>
      <p:sp>
        <p:nvSpPr>
          <p:cNvPr id="46" name="Shape 43"/>
          <p:cNvSpPr/>
          <p:nvPr/>
        </p:nvSpPr>
        <p:spPr>
          <a:xfrm>
            <a:off x="2435809" y="1741170"/>
            <a:ext cx="164592" cy="164592"/>
          </a:xfrm>
          <a:prstGeom prst="ellipse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252929" y="191490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Arch. Review</a:t>
            </a:r>
            <a:endParaRPr lang="en-US" sz="1000"/>
          </a:p>
        </p:txBody>
      </p:sp>
      <p:sp>
        <p:nvSpPr>
          <p:cNvPr id="48" name="Shape 45"/>
          <p:cNvSpPr/>
          <p:nvPr/>
        </p:nvSpPr>
        <p:spPr>
          <a:xfrm>
            <a:off x="237744" y="2247900"/>
            <a:ext cx="384048" cy="7757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37744" y="2247900"/>
            <a:ext cx="45720" cy="775716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37744" y="2247900"/>
            <a:ext cx="384048" cy="7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PH2</a:t>
            </a:r>
            <a:endParaRPr lang="en-US" sz="1000"/>
          </a:p>
        </p:txBody>
      </p:sp>
      <p:sp>
        <p:nvSpPr>
          <p:cNvPr id="51" name="Shape 48"/>
          <p:cNvSpPr/>
          <p:nvPr/>
        </p:nvSpPr>
        <p:spPr>
          <a:xfrm>
            <a:off x="676656" y="2626614"/>
            <a:ext cx="10968736" cy="18288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172389" y="255346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989509" y="272719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Start</a:t>
            </a:r>
            <a:endParaRPr lang="en-US" sz="1000"/>
          </a:p>
        </p:txBody>
      </p:sp>
      <p:sp>
        <p:nvSpPr>
          <p:cNvPr id="54" name="Shape 51"/>
          <p:cNvSpPr/>
          <p:nvPr/>
        </p:nvSpPr>
        <p:spPr>
          <a:xfrm>
            <a:off x="4645548" y="255346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462668" y="272719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Build</a:t>
            </a:r>
            <a:endParaRPr lang="en-US" sz="1000"/>
          </a:p>
        </p:txBody>
      </p:sp>
      <p:sp>
        <p:nvSpPr>
          <p:cNvPr id="56" name="Shape 53"/>
          <p:cNvSpPr/>
          <p:nvPr/>
        </p:nvSpPr>
        <p:spPr>
          <a:xfrm>
            <a:off x="6118708" y="255346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935828" y="272719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000"/>
          </a:p>
        </p:txBody>
      </p:sp>
      <p:sp>
        <p:nvSpPr>
          <p:cNvPr id="58" name="Shape 55"/>
          <p:cNvSpPr/>
          <p:nvPr/>
        </p:nvSpPr>
        <p:spPr>
          <a:xfrm>
            <a:off x="237744" y="3060192"/>
            <a:ext cx="384048" cy="775716"/>
          </a:xfrm>
          <a:prstGeom prst="rect">
            <a:avLst/>
          </a:prstGeom>
          <a:solidFill>
            <a:srgbClr val="FFFFFF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37744" y="3060192"/>
            <a:ext cx="45720" cy="775716"/>
          </a:xfrm>
          <a:prstGeom prst="rect">
            <a:avLst/>
          </a:prstGeom>
          <a:solidFill>
            <a:srgbClr val="B87800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37744" y="3060192"/>
            <a:ext cx="384048" cy="7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8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</a:t>
            </a:r>
            <a:endParaRPr lang="en-US" sz="1000"/>
          </a:p>
        </p:txBody>
      </p:sp>
      <p:sp>
        <p:nvSpPr>
          <p:cNvPr id="61" name="Shape 58"/>
          <p:cNvSpPr/>
          <p:nvPr/>
        </p:nvSpPr>
        <p:spPr>
          <a:xfrm>
            <a:off x="676656" y="3438906"/>
            <a:ext cx="10968736" cy="18288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855287" y="336575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672407" y="353949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Test</a:t>
            </a:r>
            <a:endParaRPr lang="en-US" sz="1000"/>
          </a:p>
        </p:txBody>
      </p:sp>
      <p:sp>
        <p:nvSpPr>
          <p:cNvPr id="64" name="Shape 61"/>
          <p:cNvSpPr/>
          <p:nvPr/>
        </p:nvSpPr>
        <p:spPr>
          <a:xfrm>
            <a:off x="7591867" y="336575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408987" y="353949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Pkg</a:t>
            </a:r>
            <a:endParaRPr lang="en-US" sz="1000"/>
          </a:p>
        </p:txBody>
      </p:sp>
      <p:sp>
        <p:nvSpPr>
          <p:cNvPr id="66" name="Shape 63"/>
          <p:cNvSpPr/>
          <p:nvPr/>
        </p:nvSpPr>
        <p:spPr>
          <a:xfrm>
            <a:off x="8328447" y="336575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145567" y="353949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</a:t>
            </a:r>
            <a:endParaRPr lang="en-US" sz="1000"/>
          </a:p>
        </p:txBody>
      </p:sp>
      <p:sp>
        <p:nvSpPr>
          <p:cNvPr id="68" name="Shape 65"/>
          <p:cNvSpPr/>
          <p:nvPr/>
        </p:nvSpPr>
        <p:spPr>
          <a:xfrm>
            <a:off x="9065026" y="336575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780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882146" y="353949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692B68D-E372-8506-38FE-AEA45D15FEC9}"/>
              </a:ext>
            </a:extLst>
          </p:cNvPr>
          <p:cNvGrpSpPr/>
          <p:nvPr/>
        </p:nvGrpSpPr>
        <p:grpSpPr>
          <a:xfrm>
            <a:off x="423333" y="3909060"/>
            <a:ext cx="11335268" cy="2766060"/>
            <a:chOff x="417661" y="3909060"/>
            <a:chExt cx="11335268" cy="2766060"/>
          </a:xfrm>
        </p:grpSpPr>
        <p:sp>
          <p:nvSpPr>
            <p:cNvPr id="70" name="Shape 67"/>
            <p:cNvSpPr/>
            <p:nvPr/>
          </p:nvSpPr>
          <p:spPr>
            <a:xfrm>
              <a:off x="417661" y="3909060"/>
              <a:ext cx="5487802" cy="27111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71" name="Shape 68"/>
            <p:cNvSpPr/>
            <p:nvPr/>
          </p:nvSpPr>
          <p:spPr>
            <a:xfrm>
              <a:off x="417661" y="3909060"/>
              <a:ext cx="5487802" cy="43891"/>
            </a:xfrm>
            <a:prstGeom prst="rect">
              <a:avLst/>
            </a:prstGeom>
            <a:solidFill>
              <a:srgbClr val="0A7A4A"/>
            </a:solidFill>
            <a:ln w="12700">
              <a:solidFill>
                <a:srgbClr val="0A7A4A"/>
              </a:solidFill>
              <a:prstDash val="solid"/>
            </a:ln>
          </p:spPr>
        </p:sp>
        <p:sp>
          <p:nvSpPr>
            <p:cNvPr id="72" name="Text 69"/>
            <p:cNvSpPr/>
            <p:nvPr/>
          </p:nvSpPr>
          <p:spPr>
            <a:xfrm>
              <a:off x="555774" y="3963924"/>
              <a:ext cx="5205101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200">
                  <a:solidFill>
                    <a:srgbClr val="0A7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DELIVERABLES THIS PERIOD</a:t>
              </a:r>
              <a:endParaRPr lang="en-US" sz="1100"/>
            </a:p>
          </p:txBody>
        </p:sp>
        <p:sp>
          <p:nvSpPr>
            <p:cNvPr id="73" name="Text 70"/>
            <p:cNvSpPr/>
            <p:nvPr/>
          </p:nvSpPr>
          <p:spPr>
            <a:xfrm>
              <a:off x="555774" y="4219956"/>
              <a:ext cx="5205101" cy="2455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>
                  <a:solidFill>
                    <a:srgbClr val="1A1E2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(U//FOUO) [GCENext deliverables completed this period — list specific tasks, epics, or milestones achieved in March 2026.]</a:t>
              </a:r>
              <a:endParaRPr lang="en-US" sz="1400"/>
            </a:p>
          </p:txBody>
        </p:sp>
        <p:sp>
          <p:nvSpPr>
            <p:cNvPr id="74" name="Shape 71"/>
            <p:cNvSpPr/>
            <p:nvPr/>
          </p:nvSpPr>
          <p:spPr>
            <a:xfrm>
              <a:off x="6265127" y="3909060"/>
              <a:ext cx="5487802" cy="27111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4CFC8"/>
              </a:solidFill>
              <a:prstDash val="solid"/>
            </a:ln>
          </p:spPr>
        </p:sp>
        <p:sp>
          <p:nvSpPr>
            <p:cNvPr id="75" name="Shape 72"/>
            <p:cNvSpPr/>
            <p:nvPr/>
          </p:nvSpPr>
          <p:spPr>
            <a:xfrm>
              <a:off x="6265127" y="3909060"/>
              <a:ext cx="5487802" cy="43891"/>
            </a:xfrm>
            <a:prstGeom prst="rect">
              <a:avLst/>
            </a:prstGeom>
            <a:solidFill>
              <a:srgbClr val="B87800"/>
            </a:solidFill>
            <a:ln w="12700">
              <a:solidFill>
                <a:srgbClr val="B87800"/>
              </a:solidFill>
              <a:prstDash val="solid"/>
            </a:ln>
          </p:spPr>
        </p:sp>
        <p:sp>
          <p:nvSpPr>
            <p:cNvPr id="76" name="Text 73"/>
            <p:cNvSpPr/>
            <p:nvPr/>
          </p:nvSpPr>
          <p:spPr>
            <a:xfrm>
              <a:off x="6403239" y="3963924"/>
              <a:ext cx="5205101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200">
                  <a:solidFill>
                    <a:srgbClr val="B8780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NEAR-FUTURE TASKS</a:t>
              </a:r>
              <a:endParaRPr lang="en-US" sz="1100"/>
            </a:p>
          </p:txBody>
        </p:sp>
        <p:sp>
          <p:nvSpPr>
            <p:cNvPr id="77" name="Text 74"/>
            <p:cNvSpPr/>
            <p:nvPr/>
          </p:nvSpPr>
          <p:spPr>
            <a:xfrm>
              <a:off x="6403239" y="4219956"/>
              <a:ext cx="5210814" cy="2455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>
                  <a:solidFill>
                    <a:srgbClr val="1A1E2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(U//FOUO) [GCENext planned work for the upcoming sprint period — next milestones, dependencies, and any open risks.]</a:t>
              </a:r>
              <a:endParaRPr lang="en-US" sz="14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(U) Tier 1 – Tool Modernization – DX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</a:rPr>
              <a:t>(U) Tier 1 – Tool Modernization – DX</a:t>
            </a:r>
          </a:p>
        </p:txBody>
      </p:sp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035BC01-68E5-E48F-B65D-D51DB108DF5E}"/>
              </a:ext>
            </a:extLst>
          </p:cNvPr>
          <p:cNvGrpSpPr/>
          <p:nvPr/>
        </p:nvGrpSpPr>
        <p:grpSpPr>
          <a:xfrm>
            <a:off x="325275" y="996696"/>
            <a:ext cx="11866420" cy="5660136"/>
            <a:chOff x="325275" y="996696"/>
            <a:chExt cx="11866420" cy="566013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56F4773-12C6-7592-FA93-51EB7B4E064B}"/>
                </a:ext>
              </a:extLst>
            </p:cNvPr>
            <p:cNvGrpSpPr/>
            <p:nvPr/>
          </p:nvGrpSpPr>
          <p:grpSpPr>
            <a:xfrm>
              <a:off x="325275" y="1184300"/>
              <a:ext cx="9170900" cy="5285900"/>
              <a:chOff x="334800" y="1184300"/>
              <a:chExt cx="9170900" cy="5285900"/>
            </a:xfrm>
          </p:grpSpPr>
          <p:sp>
            <p:nvSpPr>
              <p:cNvPr id="13" name="Shape nf"/>
              <p:cNvSpPr/>
              <p:nvPr/>
            </p:nvSpPr>
            <p:spPr>
              <a:xfrm>
                <a:off x="334800" y="1184300"/>
                <a:ext cx="4456524" cy="52859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7A33"/>
                </a:solidFill>
                <a:prstDash val="solid"/>
              </a:ln>
            </p:spPr>
          </p:sp>
          <p:sp>
            <p:nvSpPr>
              <p:cNvPr id="14" name="Text nflabel"/>
              <p:cNvSpPr/>
              <p:nvPr/>
            </p:nvSpPr>
            <p:spPr>
              <a:xfrm>
                <a:off x="393310" y="1226031"/>
                <a:ext cx="3900678" cy="3060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kern="0" spc="200">
                    <a:solidFill>
                      <a:srgbClr val="007A33"/>
                    </a:solidFill>
                    <a:latin typeface="Cambria"/>
                    <a:ea typeface="Cambria"/>
                  </a:rPr>
                  <a:t>NEW FEATURES</a:t>
                </a:r>
              </a:p>
            </p:txBody>
          </p:sp>
          <p:sp>
            <p:nvSpPr>
              <p:cNvPr id="15" name="Text nfbody"/>
              <p:cNvSpPr/>
              <p:nvPr/>
            </p:nvSpPr>
            <p:spPr>
              <a:xfrm>
                <a:off x="393310" y="1615518"/>
                <a:ext cx="4339504" cy="472948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1A1E28"/>
                    </a:solidFill>
                    <a:latin typeface="Calibri"/>
                  </a:rPr>
                  <a:t>(U//FOUO) [New features delivered this period — describe capabilities, enhancements, and mission impact.]</a:t>
                </a:r>
              </a:p>
            </p:txBody>
          </p:sp>
          <p:sp>
            <p:nvSpPr>
              <p:cNvPr id="16" name="Shape impr"/>
              <p:cNvSpPr/>
              <p:nvPr/>
            </p:nvSpPr>
            <p:spPr>
              <a:xfrm>
                <a:off x="4945765" y="1184300"/>
                <a:ext cx="4559935" cy="28259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71A4"/>
                </a:solidFill>
                <a:prstDash val="solid"/>
              </a:ln>
            </p:spPr>
          </p:sp>
          <p:sp>
            <p:nvSpPr>
              <p:cNvPr id="17" name="Text imprlabel"/>
              <p:cNvSpPr/>
              <p:nvPr/>
            </p:nvSpPr>
            <p:spPr>
              <a:xfrm>
                <a:off x="5001261" y="1226031"/>
                <a:ext cx="4162213" cy="29650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kern="0" spc="200">
                    <a:solidFill>
                      <a:srgbClr val="0071A4"/>
                    </a:solidFill>
                    <a:latin typeface="Cambria"/>
                    <a:ea typeface="Cambria"/>
                  </a:rPr>
                  <a:t>IMPROVEMENTS</a:t>
                </a:r>
              </a:p>
            </p:txBody>
          </p:sp>
          <p:sp>
            <p:nvSpPr>
              <p:cNvPr id="18" name="Text imprbody"/>
              <p:cNvSpPr/>
              <p:nvPr/>
            </p:nvSpPr>
            <p:spPr>
              <a:xfrm>
                <a:off x="5001261" y="1615518"/>
                <a:ext cx="4458193" cy="22885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1A1E28"/>
                    </a:solidFill>
                    <a:latin typeface="Calibri"/>
                  </a:rPr>
                  <a:t>(U//FOUO) [Improvements, performance tuning, and backend hardening work this period.]</a:t>
                </a:r>
              </a:p>
            </p:txBody>
          </p:sp>
          <p:sp>
            <p:nvSpPr>
              <p:cNvPr id="19" name="Shape bugs"/>
              <p:cNvSpPr/>
              <p:nvPr/>
            </p:nvSpPr>
            <p:spPr>
              <a:xfrm>
                <a:off x="4945765" y="4202827"/>
                <a:ext cx="4559935" cy="226737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C0392B"/>
                </a:solidFill>
                <a:prstDash val="solid"/>
              </a:ln>
            </p:spPr>
          </p:sp>
          <p:sp>
            <p:nvSpPr>
              <p:cNvPr id="20" name="Text bugslabel"/>
              <p:cNvSpPr/>
              <p:nvPr/>
            </p:nvSpPr>
            <p:spPr>
              <a:xfrm>
                <a:off x="5001261" y="4244558"/>
                <a:ext cx="4162213" cy="3060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kern="0" spc="200">
                    <a:solidFill>
                      <a:srgbClr val="C0392B"/>
                    </a:solidFill>
                    <a:latin typeface="Cambria"/>
                    <a:ea typeface="Cambria"/>
                  </a:rPr>
                  <a:t>BUG FIXES</a:t>
                </a:r>
              </a:p>
            </p:txBody>
          </p:sp>
          <p:sp>
            <p:nvSpPr>
              <p:cNvPr id="21" name="Text bugsbody"/>
              <p:cNvSpPr/>
              <p:nvPr/>
            </p:nvSpPr>
            <p:spPr>
              <a:xfrm>
                <a:off x="5001261" y="4620135"/>
                <a:ext cx="4458193" cy="173878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200">
                    <a:solidFill>
                      <a:srgbClr val="1A1E28"/>
                    </a:solidFill>
                    <a:latin typeface="Calibri"/>
                  </a:rPr>
                  <a:t>(U//FOUO) [</a:t>
                </a:r>
                <a:r>
                  <a:rPr lang="en-US" sz="1300">
                    <a:solidFill>
                      <a:srgbClr val="1A1E28"/>
                    </a:solidFill>
                    <a:latin typeface="Calibri"/>
                  </a:rPr>
                  <a:t>Bugs</a:t>
                </a:r>
                <a:r>
                  <a:rPr lang="en-US" sz="1200">
                    <a:solidFill>
                      <a:srgbClr val="1A1E28"/>
                    </a:solidFill>
                    <a:latin typeface="Calibri"/>
                  </a:rPr>
                  <a:t> resolved or blockers addressed this period. If none, state NSTR.]</a:t>
                </a:r>
              </a:p>
            </p:txBody>
          </p:sp>
        </p:grpSp>
        <p:sp>
          <p:nvSpPr>
            <p:cNvPr id="30" name="Shape nfpanel"/>
            <p:cNvSpPr/>
            <p:nvPr/>
          </p:nvSpPr>
          <p:spPr>
            <a:xfrm>
              <a:off x="9753356" y="996696"/>
              <a:ext cx="2438339" cy="5660136"/>
            </a:xfrm>
            <a:prstGeom prst="rect">
              <a:avLst/>
            </a:prstGeom>
            <a:solidFill>
              <a:srgbClr val="1E2736"/>
            </a:solidFill>
            <a:ln w="12700">
              <a:solidFill>
                <a:srgbClr val="1E2736"/>
              </a:solidFill>
              <a:prstDash val="solid"/>
            </a:ln>
          </p:spPr>
        </p:sp>
        <p:sp>
          <p:nvSpPr>
            <p:cNvPr id="31" name="Shape nfaccent"/>
            <p:cNvSpPr/>
            <p:nvPr/>
          </p:nvSpPr>
          <p:spPr>
            <a:xfrm>
              <a:off x="9753356" y="996696"/>
              <a:ext cx="54864" cy="5660136"/>
            </a:xfrm>
            <a:prstGeom prst="rect">
              <a:avLst/>
            </a:prstGeom>
            <a:solidFill>
              <a:srgbClr val="F5A800"/>
            </a:solidFill>
            <a:ln w="12700">
              <a:solidFill>
                <a:srgbClr val="F5A800"/>
              </a:solidFill>
              <a:prstDash val="solid"/>
            </a:ln>
          </p:spPr>
        </p:sp>
        <p:sp>
          <p:nvSpPr>
            <p:cNvPr id="32" name="Text nflabel"/>
            <p:cNvSpPr/>
            <p:nvPr/>
          </p:nvSpPr>
          <p:spPr>
            <a:xfrm>
              <a:off x="9899660" y="1179576"/>
              <a:ext cx="221888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150">
                  <a:solidFill>
                    <a:srgbClr val="F5A800"/>
                  </a:solidFill>
                  <a:latin typeface="Cambria"/>
                  <a:ea typeface="Cambria"/>
                </a:rPr>
                <a:t>NEAR-FUTURE</a:t>
              </a:r>
            </a:p>
          </p:txBody>
        </p:sp>
        <p:sp>
          <p:nvSpPr>
            <p:cNvPr id="33" name="Text nftasks"/>
            <p:cNvSpPr/>
            <p:nvPr/>
          </p:nvSpPr>
          <p:spPr>
            <a:xfrm>
              <a:off x="9899660" y="1435608"/>
              <a:ext cx="2218883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kern="0" spc="200">
                  <a:solidFill>
                    <a:srgbClr val="FFFFFF"/>
                  </a:solidFill>
                  <a:latin typeface="Calibri" pitchFamily="34" charset="0"/>
                </a:rPr>
                <a:t>TASKS</a:t>
              </a:r>
            </a:p>
          </p:txBody>
        </p:sp>
        <p:sp>
          <p:nvSpPr>
            <p:cNvPr id="132" name="Shape divider"/>
            <p:cNvSpPr/>
            <p:nvPr/>
          </p:nvSpPr>
          <p:spPr>
            <a:xfrm>
              <a:off x="9899660" y="1947672"/>
              <a:ext cx="2164019" cy="22860"/>
            </a:xfrm>
            <a:prstGeom prst="rect">
              <a:avLst/>
            </a:prstGeom>
            <a:solidFill>
              <a:srgbClr val="2E3A50"/>
            </a:solidFill>
            <a:ln w="12700">
              <a:solidFill>
                <a:srgbClr val="2E3A50"/>
              </a:solidFill>
              <a:prstDash val="solid"/>
            </a:ln>
          </p:spPr>
        </p:sp>
        <p:sp>
          <p:nvSpPr>
            <p:cNvPr id="34" name="Shape dot0"/>
            <p:cNvSpPr/>
            <p:nvPr/>
          </p:nvSpPr>
          <p:spPr>
            <a:xfrm>
              <a:off x="9899660" y="2167128"/>
              <a:ext cx="41911" cy="51435"/>
            </a:xfrm>
            <a:prstGeom prst="ellipse">
              <a:avLst/>
            </a:prstGeom>
            <a:solidFill>
              <a:srgbClr val="F5A800"/>
            </a:solidFill>
            <a:ln w="12700">
              <a:solidFill>
                <a:srgbClr val="F5A800"/>
              </a:solidFill>
              <a:prstDash val="solid"/>
            </a:ln>
          </p:spPr>
        </p:sp>
        <p:sp>
          <p:nvSpPr>
            <p:cNvPr id="35" name="Text task0"/>
            <p:cNvSpPr/>
            <p:nvPr/>
          </p:nvSpPr>
          <p:spPr>
            <a:xfrm>
              <a:off x="9998339" y="2093976"/>
              <a:ext cx="2083628" cy="6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>
                  <a:solidFill>
                    <a:srgbClr val="D8DCE8"/>
                  </a:solidFill>
                  <a:latin typeface="Calibri" pitchFamily="34" charset="0"/>
                </a:rPr>
                <a:t>(U//FOUO) [Near-future task 1]</a:t>
              </a:r>
            </a:p>
          </p:txBody>
        </p:sp>
        <p:sp>
          <p:nvSpPr>
            <p:cNvPr id="36" name="Shape dot1"/>
            <p:cNvSpPr/>
            <p:nvPr/>
          </p:nvSpPr>
          <p:spPr>
            <a:xfrm>
              <a:off x="9899660" y="2900568"/>
              <a:ext cx="41911" cy="51435"/>
            </a:xfrm>
            <a:prstGeom prst="ellipse">
              <a:avLst/>
            </a:prstGeom>
            <a:solidFill>
              <a:srgbClr val="F5A800"/>
            </a:solidFill>
            <a:ln w="12700">
              <a:solidFill>
                <a:srgbClr val="F5A800"/>
              </a:solidFill>
              <a:prstDash val="solid"/>
            </a:ln>
          </p:spPr>
        </p:sp>
        <p:sp>
          <p:nvSpPr>
            <p:cNvPr id="37" name="Text task1"/>
            <p:cNvSpPr/>
            <p:nvPr/>
          </p:nvSpPr>
          <p:spPr>
            <a:xfrm>
              <a:off x="9998339" y="2827416"/>
              <a:ext cx="2083628" cy="6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>
                  <a:solidFill>
                    <a:srgbClr val="D8DCE8"/>
                  </a:solidFill>
                  <a:latin typeface="Calibri" pitchFamily="34" charset="0"/>
                </a:rPr>
                <a:t>(U//FOUO) [Near-future task 2]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(U) Tier 1 – Tool Modernization – LX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</a:rPr>
              <a:t>(U) Tier 1 – Tool Modernization – LX</a:t>
            </a:r>
          </a:p>
        </p:txBody>
      </p:sp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D4A05DB-9BF9-FF14-9864-90DFA29FA985}"/>
              </a:ext>
            </a:extLst>
          </p:cNvPr>
          <p:cNvGrpSpPr/>
          <p:nvPr/>
        </p:nvGrpSpPr>
        <p:grpSpPr>
          <a:xfrm>
            <a:off x="325275" y="996696"/>
            <a:ext cx="11866420" cy="5660136"/>
            <a:chOff x="325275" y="996696"/>
            <a:chExt cx="11866420" cy="566013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E74CB35-09A1-AFA9-941E-5390856C2227}"/>
                </a:ext>
              </a:extLst>
            </p:cNvPr>
            <p:cNvGrpSpPr/>
            <p:nvPr/>
          </p:nvGrpSpPr>
          <p:grpSpPr>
            <a:xfrm>
              <a:off x="325275" y="1184300"/>
              <a:ext cx="9170900" cy="5285900"/>
              <a:chOff x="334800" y="1184300"/>
              <a:chExt cx="9170900" cy="5285900"/>
            </a:xfrm>
          </p:grpSpPr>
          <p:sp>
            <p:nvSpPr>
              <p:cNvPr id="52" name="Shape nf">
                <a:extLst>
                  <a:ext uri="{FF2B5EF4-FFF2-40B4-BE49-F238E27FC236}">
                    <a16:creationId xmlns:a16="http://schemas.microsoft.com/office/drawing/2014/main" id="{B901F2EF-B0D8-BCB3-D93D-AAC21B4B4CFF}"/>
                  </a:ext>
                </a:extLst>
              </p:cNvPr>
              <p:cNvSpPr/>
              <p:nvPr/>
            </p:nvSpPr>
            <p:spPr>
              <a:xfrm>
                <a:off x="334800" y="1184300"/>
                <a:ext cx="4456524" cy="52859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7A33"/>
                </a:solidFill>
                <a:prstDash val="solid"/>
              </a:ln>
            </p:spPr>
          </p:sp>
          <p:sp>
            <p:nvSpPr>
              <p:cNvPr id="53" name="Text nflabel">
                <a:extLst>
                  <a:ext uri="{FF2B5EF4-FFF2-40B4-BE49-F238E27FC236}">
                    <a16:creationId xmlns:a16="http://schemas.microsoft.com/office/drawing/2014/main" id="{F81C9B4C-983E-9710-AFAF-68526E2A6121}"/>
                  </a:ext>
                </a:extLst>
              </p:cNvPr>
              <p:cNvSpPr/>
              <p:nvPr/>
            </p:nvSpPr>
            <p:spPr>
              <a:xfrm>
                <a:off x="393310" y="1226031"/>
                <a:ext cx="3900678" cy="3060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kern="0" spc="200">
                    <a:solidFill>
                      <a:srgbClr val="007A33"/>
                    </a:solidFill>
                    <a:latin typeface="Cambria"/>
                    <a:ea typeface="Cambria"/>
                  </a:rPr>
                  <a:t>NEW FEATURES</a:t>
                </a:r>
              </a:p>
            </p:txBody>
          </p:sp>
          <p:sp>
            <p:nvSpPr>
              <p:cNvPr id="54" name="Text nfbody">
                <a:extLst>
                  <a:ext uri="{FF2B5EF4-FFF2-40B4-BE49-F238E27FC236}">
                    <a16:creationId xmlns:a16="http://schemas.microsoft.com/office/drawing/2014/main" id="{CCF0AC65-F4A3-F467-2BB9-542CEF860262}"/>
                  </a:ext>
                </a:extLst>
              </p:cNvPr>
              <p:cNvSpPr/>
              <p:nvPr/>
            </p:nvSpPr>
            <p:spPr>
              <a:xfrm>
                <a:off x="393310" y="1615518"/>
                <a:ext cx="4339504" cy="472948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1A1E28"/>
                    </a:solidFill>
                    <a:latin typeface="Calibri"/>
                  </a:rPr>
                  <a:t>(U//FOUO) [New features delivered this period — describe capabilities, enhancements, and mission impact.]</a:t>
                </a:r>
              </a:p>
            </p:txBody>
          </p:sp>
          <p:sp>
            <p:nvSpPr>
              <p:cNvPr id="55" name="Shape impr">
                <a:extLst>
                  <a:ext uri="{FF2B5EF4-FFF2-40B4-BE49-F238E27FC236}">
                    <a16:creationId xmlns:a16="http://schemas.microsoft.com/office/drawing/2014/main" id="{76146658-A010-CEBD-C9C2-CB8F445A3CDD}"/>
                  </a:ext>
                </a:extLst>
              </p:cNvPr>
              <p:cNvSpPr/>
              <p:nvPr/>
            </p:nvSpPr>
            <p:spPr>
              <a:xfrm>
                <a:off x="4945765" y="1184300"/>
                <a:ext cx="4559935" cy="28259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71A4"/>
                </a:solidFill>
                <a:prstDash val="solid"/>
              </a:ln>
            </p:spPr>
          </p:sp>
          <p:sp>
            <p:nvSpPr>
              <p:cNvPr id="56" name="Text imprlabel">
                <a:extLst>
                  <a:ext uri="{FF2B5EF4-FFF2-40B4-BE49-F238E27FC236}">
                    <a16:creationId xmlns:a16="http://schemas.microsoft.com/office/drawing/2014/main" id="{C0FCEB66-7C76-D6B4-6831-BCADC260FA71}"/>
                  </a:ext>
                </a:extLst>
              </p:cNvPr>
              <p:cNvSpPr/>
              <p:nvPr/>
            </p:nvSpPr>
            <p:spPr>
              <a:xfrm>
                <a:off x="5001261" y="1226031"/>
                <a:ext cx="4162213" cy="29650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kern="0" spc="200">
                    <a:solidFill>
                      <a:srgbClr val="0071A4"/>
                    </a:solidFill>
                    <a:latin typeface="Cambria"/>
                    <a:ea typeface="Cambria"/>
                  </a:rPr>
                  <a:t>IMPROVEMENTS</a:t>
                </a:r>
              </a:p>
            </p:txBody>
          </p:sp>
          <p:sp>
            <p:nvSpPr>
              <p:cNvPr id="57" name="Text imprbody">
                <a:extLst>
                  <a:ext uri="{FF2B5EF4-FFF2-40B4-BE49-F238E27FC236}">
                    <a16:creationId xmlns:a16="http://schemas.microsoft.com/office/drawing/2014/main" id="{41630615-3BED-BD55-770B-FA9714B5A4B2}"/>
                  </a:ext>
                </a:extLst>
              </p:cNvPr>
              <p:cNvSpPr/>
              <p:nvPr/>
            </p:nvSpPr>
            <p:spPr>
              <a:xfrm>
                <a:off x="5001261" y="1615518"/>
                <a:ext cx="4458193" cy="22885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1A1E28"/>
                    </a:solidFill>
                    <a:latin typeface="Calibri"/>
                  </a:rPr>
                  <a:t>(U//FOUO) [Improvements, performance tuning, and backend hardening work this period.]</a:t>
                </a:r>
              </a:p>
            </p:txBody>
          </p:sp>
          <p:sp>
            <p:nvSpPr>
              <p:cNvPr id="58" name="Shape bugs">
                <a:extLst>
                  <a:ext uri="{FF2B5EF4-FFF2-40B4-BE49-F238E27FC236}">
                    <a16:creationId xmlns:a16="http://schemas.microsoft.com/office/drawing/2014/main" id="{AD323C9E-70D4-2635-F6F6-3D6A29CF132F}"/>
                  </a:ext>
                </a:extLst>
              </p:cNvPr>
              <p:cNvSpPr/>
              <p:nvPr/>
            </p:nvSpPr>
            <p:spPr>
              <a:xfrm>
                <a:off x="4945765" y="4202827"/>
                <a:ext cx="4559935" cy="226737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C0392B"/>
                </a:solidFill>
                <a:prstDash val="solid"/>
              </a:ln>
            </p:spPr>
          </p:sp>
          <p:sp>
            <p:nvSpPr>
              <p:cNvPr id="59" name="Text bugslabel">
                <a:extLst>
                  <a:ext uri="{FF2B5EF4-FFF2-40B4-BE49-F238E27FC236}">
                    <a16:creationId xmlns:a16="http://schemas.microsoft.com/office/drawing/2014/main" id="{E2468434-FD03-6979-198A-62BFDD5BD9D3}"/>
                  </a:ext>
                </a:extLst>
              </p:cNvPr>
              <p:cNvSpPr/>
              <p:nvPr/>
            </p:nvSpPr>
            <p:spPr>
              <a:xfrm>
                <a:off x="5001261" y="4244558"/>
                <a:ext cx="4162213" cy="3060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kern="0" spc="200">
                    <a:solidFill>
                      <a:srgbClr val="C0392B"/>
                    </a:solidFill>
                    <a:latin typeface="Cambria"/>
                    <a:ea typeface="Cambria"/>
                  </a:rPr>
                  <a:t>BUG FIXES</a:t>
                </a:r>
              </a:p>
            </p:txBody>
          </p:sp>
          <p:sp>
            <p:nvSpPr>
              <p:cNvPr id="60" name="Text bugsbody">
                <a:extLst>
                  <a:ext uri="{FF2B5EF4-FFF2-40B4-BE49-F238E27FC236}">
                    <a16:creationId xmlns:a16="http://schemas.microsoft.com/office/drawing/2014/main" id="{603A4EEB-F398-603A-7BD9-5273240FF370}"/>
                  </a:ext>
                </a:extLst>
              </p:cNvPr>
              <p:cNvSpPr/>
              <p:nvPr/>
            </p:nvSpPr>
            <p:spPr>
              <a:xfrm>
                <a:off x="5001261" y="4620135"/>
                <a:ext cx="4458193" cy="173878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200">
                    <a:solidFill>
                      <a:srgbClr val="1A1E28"/>
                    </a:solidFill>
                    <a:latin typeface="Calibri"/>
                  </a:rPr>
                  <a:t>(U//FOUO) [</a:t>
                </a:r>
                <a:r>
                  <a:rPr lang="en-US" sz="1300">
                    <a:solidFill>
                      <a:srgbClr val="1A1E28"/>
                    </a:solidFill>
                    <a:latin typeface="Calibri"/>
                  </a:rPr>
                  <a:t>Bugs</a:t>
                </a:r>
                <a:r>
                  <a:rPr lang="en-US" sz="1200">
                    <a:solidFill>
                      <a:srgbClr val="1A1E28"/>
                    </a:solidFill>
                    <a:latin typeface="Calibri"/>
                  </a:rPr>
                  <a:t> resolved or blockers addressed this period. If none, state NSTR.]</a:t>
                </a:r>
              </a:p>
            </p:txBody>
          </p:sp>
        </p:grpSp>
        <p:sp>
          <p:nvSpPr>
            <p:cNvPr id="43" name="Shape nfpanel">
              <a:extLst>
                <a:ext uri="{FF2B5EF4-FFF2-40B4-BE49-F238E27FC236}">
                  <a16:creationId xmlns:a16="http://schemas.microsoft.com/office/drawing/2014/main" id="{B62DB3CA-1D1D-B8E9-498E-D7C6D5142901}"/>
                </a:ext>
              </a:extLst>
            </p:cNvPr>
            <p:cNvSpPr/>
            <p:nvPr/>
          </p:nvSpPr>
          <p:spPr>
            <a:xfrm>
              <a:off x="9753356" y="996696"/>
              <a:ext cx="2438339" cy="5660136"/>
            </a:xfrm>
            <a:prstGeom prst="rect">
              <a:avLst/>
            </a:prstGeom>
            <a:solidFill>
              <a:srgbClr val="1E2736"/>
            </a:solidFill>
            <a:ln w="12700">
              <a:solidFill>
                <a:srgbClr val="1E2736"/>
              </a:solidFill>
              <a:prstDash val="solid"/>
            </a:ln>
          </p:spPr>
        </p:sp>
        <p:sp>
          <p:nvSpPr>
            <p:cNvPr id="44" name="Shape nfaccent">
              <a:extLst>
                <a:ext uri="{FF2B5EF4-FFF2-40B4-BE49-F238E27FC236}">
                  <a16:creationId xmlns:a16="http://schemas.microsoft.com/office/drawing/2014/main" id="{78FA2B34-70DB-D262-F0AC-990C1FBAC8E2}"/>
                </a:ext>
              </a:extLst>
            </p:cNvPr>
            <p:cNvSpPr/>
            <p:nvPr/>
          </p:nvSpPr>
          <p:spPr>
            <a:xfrm>
              <a:off x="9753356" y="996696"/>
              <a:ext cx="54864" cy="5660136"/>
            </a:xfrm>
            <a:prstGeom prst="rect">
              <a:avLst/>
            </a:prstGeom>
            <a:solidFill>
              <a:srgbClr val="F5A800"/>
            </a:solidFill>
            <a:ln w="12700">
              <a:solidFill>
                <a:srgbClr val="F5A800"/>
              </a:solidFill>
              <a:prstDash val="solid"/>
            </a:ln>
          </p:spPr>
        </p:sp>
        <p:sp>
          <p:nvSpPr>
            <p:cNvPr id="45" name="Text nflabel">
              <a:extLst>
                <a:ext uri="{FF2B5EF4-FFF2-40B4-BE49-F238E27FC236}">
                  <a16:creationId xmlns:a16="http://schemas.microsoft.com/office/drawing/2014/main" id="{CD19F50E-9123-4D11-8AEE-F81938DC3268}"/>
                </a:ext>
              </a:extLst>
            </p:cNvPr>
            <p:cNvSpPr/>
            <p:nvPr/>
          </p:nvSpPr>
          <p:spPr>
            <a:xfrm>
              <a:off x="9899660" y="1179576"/>
              <a:ext cx="221888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150">
                  <a:solidFill>
                    <a:srgbClr val="F5A800"/>
                  </a:solidFill>
                  <a:latin typeface="Cambria"/>
                  <a:ea typeface="Cambria"/>
                </a:rPr>
                <a:t>NEAR-FUTURE</a:t>
              </a:r>
            </a:p>
          </p:txBody>
        </p:sp>
        <p:sp>
          <p:nvSpPr>
            <p:cNvPr id="46" name="Text nftasks">
              <a:extLst>
                <a:ext uri="{FF2B5EF4-FFF2-40B4-BE49-F238E27FC236}">
                  <a16:creationId xmlns:a16="http://schemas.microsoft.com/office/drawing/2014/main" id="{A430C68D-0D50-5F0B-F5C9-1B6FA24216EB}"/>
                </a:ext>
              </a:extLst>
            </p:cNvPr>
            <p:cNvSpPr/>
            <p:nvPr/>
          </p:nvSpPr>
          <p:spPr>
            <a:xfrm>
              <a:off x="9899660" y="1435608"/>
              <a:ext cx="2218883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kern="0" spc="200">
                  <a:solidFill>
                    <a:srgbClr val="FFFFFF"/>
                  </a:solidFill>
                  <a:latin typeface="Calibri" pitchFamily="34" charset="0"/>
                </a:rPr>
                <a:t>TASKS</a:t>
              </a:r>
            </a:p>
          </p:txBody>
        </p:sp>
        <p:sp>
          <p:nvSpPr>
            <p:cNvPr id="47" name="Shape divider">
              <a:extLst>
                <a:ext uri="{FF2B5EF4-FFF2-40B4-BE49-F238E27FC236}">
                  <a16:creationId xmlns:a16="http://schemas.microsoft.com/office/drawing/2014/main" id="{85C57F1A-F347-18E8-3F29-F61847F6F9AE}"/>
                </a:ext>
              </a:extLst>
            </p:cNvPr>
            <p:cNvSpPr/>
            <p:nvPr/>
          </p:nvSpPr>
          <p:spPr>
            <a:xfrm>
              <a:off x="9899660" y="1947672"/>
              <a:ext cx="2164019" cy="22860"/>
            </a:xfrm>
            <a:prstGeom prst="rect">
              <a:avLst/>
            </a:prstGeom>
            <a:solidFill>
              <a:srgbClr val="2E3A50"/>
            </a:solidFill>
            <a:ln w="12700">
              <a:solidFill>
                <a:srgbClr val="2E3A50"/>
              </a:solidFill>
              <a:prstDash val="solid"/>
            </a:ln>
          </p:spPr>
        </p:sp>
        <p:sp>
          <p:nvSpPr>
            <p:cNvPr id="48" name="Shape dot0">
              <a:extLst>
                <a:ext uri="{FF2B5EF4-FFF2-40B4-BE49-F238E27FC236}">
                  <a16:creationId xmlns:a16="http://schemas.microsoft.com/office/drawing/2014/main" id="{BD219C76-7B95-B5FF-FF9C-82EE1090F06A}"/>
                </a:ext>
              </a:extLst>
            </p:cNvPr>
            <p:cNvSpPr/>
            <p:nvPr/>
          </p:nvSpPr>
          <p:spPr>
            <a:xfrm>
              <a:off x="9899660" y="2167128"/>
              <a:ext cx="41911" cy="51435"/>
            </a:xfrm>
            <a:prstGeom prst="ellipse">
              <a:avLst/>
            </a:prstGeom>
            <a:solidFill>
              <a:srgbClr val="F5A800"/>
            </a:solidFill>
            <a:ln w="12700">
              <a:solidFill>
                <a:srgbClr val="F5A800"/>
              </a:solidFill>
              <a:prstDash val="solid"/>
            </a:ln>
          </p:spPr>
        </p:sp>
        <p:sp>
          <p:nvSpPr>
            <p:cNvPr id="49" name="Text task0">
              <a:extLst>
                <a:ext uri="{FF2B5EF4-FFF2-40B4-BE49-F238E27FC236}">
                  <a16:creationId xmlns:a16="http://schemas.microsoft.com/office/drawing/2014/main" id="{6421C92D-B8C2-E7C1-D69E-A61C0DF143B4}"/>
                </a:ext>
              </a:extLst>
            </p:cNvPr>
            <p:cNvSpPr/>
            <p:nvPr/>
          </p:nvSpPr>
          <p:spPr>
            <a:xfrm>
              <a:off x="9998339" y="2093976"/>
              <a:ext cx="2083628" cy="6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>
                  <a:solidFill>
                    <a:srgbClr val="D8DCE8"/>
                  </a:solidFill>
                  <a:latin typeface="Calibri" pitchFamily="34" charset="0"/>
                </a:rPr>
                <a:t>(U//FOUO) [Near-future task 1]</a:t>
              </a:r>
            </a:p>
          </p:txBody>
        </p:sp>
        <p:sp>
          <p:nvSpPr>
            <p:cNvPr id="50" name="Shape dot1">
              <a:extLst>
                <a:ext uri="{FF2B5EF4-FFF2-40B4-BE49-F238E27FC236}">
                  <a16:creationId xmlns:a16="http://schemas.microsoft.com/office/drawing/2014/main" id="{407F689A-B1DB-4865-4107-157C80EAE331}"/>
                </a:ext>
              </a:extLst>
            </p:cNvPr>
            <p:cNvSpPr/>
            <p:nvPr/>
          </p:nvSpPr>
          <p:spPr>
            <a:xfrm>
              <a:off x="9899660" y="2900568"/>
              <a:ext cx="41911" cy="51435"/>
            </a:xfrm>
            <a:prstGeom prst="ellipse">
              <a:avLst/>
            </a:prstGeom>
            <a:solidFill>
              <a:srgbClr val="F5A800"/>
            </a:solidFill>
            <a:ln w="12700">
              <a:solidFill>
                <a:srgbClr val="F5A800"/>
              </a:solidFill>
              <a:prstDash val="solid"/>
            </a:ln>
          </p:spPr>
        </p:sp>
        <p:sp>
          <p:nvSpPr>
            <p:cNvPr id="51" name="Text task1">
              <a:extLst>
                <a:ext uri="{FF2B5EF4-FFF2-40B4-BE49-F238E27FC236}">
                  <a16:creationId xmlns:a16="http://schemas.microsoft.com/office/drawing/2014/main" id="{9D37927B-A59E-99EF-757C-31BE84812837}"/>
                </a:ext>
              </a:extLst>
            </p:cNvPr>
            <p:cNvSpPr/>
            <p:nvPr/>
          </p:nvSpPr>
          <p:spPr>
            <a:xfrm>
              <a:off x="9998339" y="2827416"/>
              <a:ext cx="2083628" cy="6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>
                  <a:solidFill>
                    <a:srgbClr val="D8DCE8"/>
                  </a:solidFill>
                  <a:latin typeface="Calibri" pitchFamily="34" charset="0"/>
                </a:rPr>
                <a:t>(U//FOUO) [Near-future task 2]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(U) Tier 1 – Tool Modernization – RC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</a:rPr>
              <a:t>(U) Tier 1 – Tool Modernization – RC</a:t>
            </a:r>
          </a:p>
        </p:txBody>
      </p:sp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58E186F-205E-1A85-9CC7-EC827D02EE2B}"/>
              </a:ext>
            </a:extLst>
          </p:cNvPr>
          <p:cNvGrpSpPr/>
          <p:nvPr/>
        </p:nvGrpSpPr>
        <p:grpSpPr>
          <a:xfrm>
            <a:off x="325275" y="1184300"/>
            <a:ext cx="9170900" cy="5285900"/>
            <a:chOff x="334800" y="1184300"/>
            <a:chExt cx="9170900" cy="5285900"/>
          </a:xfrm>
        </p:grpSpPr>
        <p:sp>
          <p:nvSpPr>
            <p:cNvPr id="52" name="Shape nf">
              <a:extLst>
                <a:ext uri="{FF2B5EF4-FFF2-40B4-BE49-F238E27FC236}">
                  <a16:creationId xmlns:a16="http://schemas.microsoft.com/office/drawing/2014/main" id="{2EA8891B-26C8-FA27-12F7-C77E1C6D70EA}"/>
                </a:ext>
              </a:extLst>
            </p:cNvPr>
            <p:cNvSpPr/>
            <p:nvPr/>
          </p:nvSpPr>
          <p:spPr>
            <a:xfrm>
              <a:off x="334800" y="1184300"/>
              <a:ext cx="4456524" cy="52859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A33"/>
              </a:solidFill>
              <a:prstDash val="solid"/>
            </a:ln>
          </p:spPr>
        </p:sp>
        <p:sp>
          <p:nvSpPr>
            <p:cNvPr id="53" name="Text nflabel">
              <a:extLst>
                <a:ext uri="{FF2B5EF4-FFF2-40B4-BE49-F238E27FC236}">
                  <a16:creationId xmlns:a16="http://schemas.microsoft.com/office/drawing/2014/main" id="{F68FC1A8-AC9F-30FB-5E01-277C21AFC229}"/>
                </a:ext>
              </a:extLst>
            </p:cNvPr>
            <p:cNvSpPr/>
            <p:nvPr/>
          </p:nvSpPr>
          <p:spPr>
            <a:xfrm>
              <a:off x="393310" y="1226031"/>
              <a:ext cx="3900678" cy="3060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200">
                  <a:solidFill>
                    <a:srgbClr val="007A33"/>
                  </a:solidFill>
                  <a:latin typeface="Cambria"/>
                  <a:ea typeface="Cambria"/>
                </a:rPr>
                <a:t>NEW FEATURES</a:t>
              </a:r>
            </a:p>
          </p:txBody>
        </p:sp>
        <p:sp>
          <p:nvSpPr>
            <p:cNvPr id="54" name="Text nfbody">
              <a:extLst>
                <a:ext uri="{FF2B5EF4-FFF2-40B4-BE49-F238E27FC236}">
                  <a16:creationId xmlns:a16="http://schemas.microsoft.com/office/drawing/2014/main" id="{8885B84B-D726-8EB0-8C4A-45837BC07E01}"/>
                </a:ext>
              </a:extLst>
            </p:cNvPr>
            <p:cNvSpPr/>
            <p:nvPr/>
          </p:nvSpPr>
          <p:spPr>
            <a:xfrm>
              <a:off x="393310" y="1615518"/>
              <a:ext cx="4339504" cy="47294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>
                  <a:solidFill>
                    <a:srgbClr val="1A1E28"/>
                  </a:solidFill>
                  <a:latin typeface="Calibri"/>
                </a:rPr>
                <a:t>(U//FOUO) [New features delivered this period — describe capabilities, enhancements, and mission impact.]</a:t>
              </a:r>
            </a:p>
          </p:txBody>
        </p:sp>
        <p:sp>
          <p:nvSpPr>
            <p:cNvPr id="55" name="Shape impr">
              <a:extLst>
                <a:ext uri="{FF2B5EF4-FFF2-40B4-BE49-F238E27FC236}">
                  <a16:creationId xmlns:a16="http://schemas.microsoft.com/office/drawing/2014/main" id="{02ECFA3C-24AE-8CE1-9CFD-735825409C48}"/>
                </a:ext>
              </a:extLst>
            </p:cNvPr>
            <p:cNvSpPr/>
            <p:nvPr/>
          </p:nvSpPr>
          <p:spPr>
            <a:xfrm>
              <a:off x="4945765" y="1184300"/>
              <a:ext cx="4559935" cy="28259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1A4"/>
              </a:solidFill>
              <a:prstDash val="solid"/>
            </a:ln>
          </p:spPr>
        </p:sp>
        <p:sp>
          <p:nvSpPr>
            <p:cNvPr id="56" name="Text imprlabel">
              <a:extLst>
                <a:ext uri="{FF2B5EF4-FFF2-40B4-BE49-F238E27FC236}">
                  <a16:creationId xmlns:a16="http://schemas.microsoft.com/office/drawing/2014/main" id="{E2352631-AF30-7BF6-FDBF-69641C344EED}"/>
                </a:ext>
              </a:extLst>
            </p:cNvPr>
            <p:cNvSpPr/>
            <p:nvPr/>
          </p:nvSpPr>
          <p:spPr>
            <a:xfrm>
              <a:off x="5001261" y="1226031"/>
              <a:ext cx="4162213" cy="2965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200">
                  <a:solidFill>
                    <a:srgbClr val="0071A4"/>
                  </a:solidFill>
                  <a:latin typeface="Cambria"/>
                  <a:ea typeface="Cambria"/>
                </a:rPr>
                <a:t>IMPROVEMENTS</a:t>
              </a:r>
            </a:p>
          </p:txBody>
        </p:sp>
        <p:sp>
          <p:nvSpPr>
            <p:cNvPr id="57" name="Text imprbody">
              <a:extLst>
                <a:ext uri="{FF2B5EF4-FFF2-40B4-BE49-F238E27FC236}">
                  <a16:creationId xmlns:a16="http://schemas.microsoft.com/office/drawing/2014/main" id="{97637908-71F1-5939-70C2-4B2F6EE35DA9}"/>
                </a:ext>
              </a:extLst>
            </p:cNvPr>
            <p:cNvSpPr/>
            <p:nvPr/>
          </p:nvSpPr>
          <p:spPr>
            <a:xfrm>
              <a:off x="5001261" y="1615518"/>
              <a:ext cx="4458193" cy="22885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>
                  <a:solidFill>
                    <a:srgbClr val="1A1E28"/>
                  </a:solidFill>
                  <a:latin typeface="Calibri"/>
                </a:rPr>
                <a:t>(U//FOUO) [Improvements, performance tuning, and backend hardening work this period.]</a:t>
              </a:r>
            </a:p>
          </p:txBody>
        </p:sp>
        <p:sp>
          <p:nvSpPr>
            <p:cNvPr id="58" name="Shape bugs">
              <a:extLst>
                <a:ext uri="{FF2B5EF4-FFF2-40B4-BE49-F238E27FC236}">
                  <a16:creationId xmlns:a16="http://schemas.microsoft.com/office/drawing/2014/main" id="{74B69B8D-62A7-BD2D-42BD-0FBE803461D5}"/>
                </a:ext>
              </a:extLst>
            </p:cNvPr>
            <p:cNvSpPr/>
            <p:nvPr/>
          </p:nvSpPr>
          <p:spPr>
            <a:xfrm>
              <a:off x="4945765" y="4202827"/>
              <a:ext cx="4559935" cy="226737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392B"/>
              </a:solidFill>
              <a:prstDash val="solid"/>
            </a:ln>
          </p:spPr>
        </p:sp>
        <p:sp>
          <p:nvSpPr>
            <p:cNvPr id="59" name="Text bugslabel">
              <a:extLst>
                <a:ext uri="{FF2B5EF4-FFF2-40B4-BE49-F238E27FC236}">
                  <a16:creationId xmlns:a16="http://schemas.microsoft.com/office/drawing/2014/main" id="{F8D5D4A0-93A8-0213-BC70-9874AE6106DF}"/>
                </a:ext>
              </a:extLst>
            </p:cNvPr>
            <p:cNvSpPr/>
            <p:nvPr/>
          </p:nvSpPr>
          <p:spPr>
            <a:xfrm>
              <a:off x="5001261" y="4244558"/>
              <a:ext cx="4162213" cy="3060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200">
                  <a:solidFill>
                    <a:srgbClr val="C0392B"/>
                  </a:solidFill>
                  <a:latin typeface="Cambria"/>
                  <a:ea typeface="Cambria"/>
                </a:rPr>
                <a:t>BUG FIXES</a:t>
              </a:r>
            </a:p>
          </p:txBody>
        </p:sp>
        <p:sp>
          <p:nvSpPr>
            <p:cNvPr id="60" name="Text bugsbody">
              <a:extLst>
                <a:ext uri="{FF2B5EF4-FFF2-40B4-BE49-F238E27FC236}">
                  <a16:creationId xmlns:a16="http://schemas.microsoft.com/office/drawing/2014/main" id="{AF7D71C3-B2BB-D127-B458-5EA5C44EBB1D}"/>
                </a:ext>
              </a:extLst>
            </p:cNvPr>
            <p:cNvSpPr/>
            <p:nvPr/>
          </p:nvSpPr>
          <p:spPr>
            <a:xfrm>
              <a:off x="5001261" y="4620135"/>
              <a:ext cx="4458193" cy="17387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>
                  <a:solidFill>
                    <a:srgbClr val="1A1E28"/>
                  </a:solidFill>
                  <a:latin typeface="Calibri"/>
                </a:rPr>
                <a:t>(U//FOUO) [</a:t>
              </a:r>
              <a:r>
                <a:rPr lang="en-US" sz="1300">
                  <a:solidFill>
                    <a:srgbClr val="1A1E28"/>
                  </a:solidFill>
                  <a:latin typeface="Calibri"/>
                </a:rPr>
                <a:t>Bugs</a:t>
              </a:r>
              <a:r>
                <a:rPr lang="en-US" sz="1200">
                  <a:solidFill>
                    <a:srgbClr val="1A1E28"/>
                  </a:solidFill>
                  <a:latin typeface="Calibri"/>
                </a:rPr>
                <a:t> resolved or blockers addressed this period. If none, state NSTR.]</a:t>
              </a:r>
            </a:p>
          </p:txBody>
        </p:sp>
      </p:grpSp>
      <p:sp>
        <p:nvSpPr>
          <p:cNvPr id="43" name="Shape nfpanel">
            <a:extLst>
              <a:ext uri="{FF2B5EF4-FFF2-40B4-BE49-F238E27FC236}">
                <a16:creationId xmlns:a16="http://schemas.microsoft.com/office/drawing/2014/main" id="{F579A17F-B9CB-D774-37DF-8214AA8CC7F8}"/>
              </a:ext>
            </a:extLst>
          </p:cNvPr>
          <p:cNvSpPr/>
          <p:nvPr/>
        </p:nvSpPr>
        <p:spPr>
          <a:xfrm>
            <a:off x="9753356" y="996696"/>
            <a:ext cx="2438339" cy="5660136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44" name="Shape nfaccent">
            <a:extLst>
              <a:ext uri="{FF2B5EF4-FFF2-40B4-BE49-F238E27FC236}">
                <a16:creationId xmlns:a16="http://schemas.microsoft.com/office/drawing/2014/main" id="{2AEE5C4E-6979-0B19-CAE3-51F516533E12}"/>
              </a:ext>
            </a:extLst>
          </p:cNvPr>
          <p:cNvSpPr/>
          <p:nvPr/>
        </p:nvSpPr>
        <p:spPr>
          <a:xfrm>
            <a:off x="9753356" y="996696"/>
            <a:ext cx="54864" cy="566013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5" name="Text nflabel">
            <a:extLst>
              <a:ext uri="{FF2B5EF4-FFF2-40B4-BE49-F238E27FC236}">
                <a16:creationId xmlns:a16="http://schemas.microsoft.com/office/drawing/2014/main" id="{3DBB0946-4002-BF2D-E204-75B4F7720CA9}"/>
              </a:ext>
            </a:extLst>
          </p:cNvPr>
          <p:cNvSpPr/>
          <p:nvPr/>
        </p:nvSpPr>
        <p:spPr>
          <a:xfrm>
            <a:off x="9899660" y="1179576"/>
            <a:ext cx="2218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F5A800"/>
                </a:solidFill>
                <a:latin typeface="Cambria"/>
                <a:ea typeface="Cambria"/>
              </a:rPr>
              <a:t>NEAR-FUTURE</a:t>
            </a:r>
          </a:p>
        </p:txBody>
      </p:sp>
      <p:sp>
        <p:nvSpPr>
          <p:cNvPr id="46" name="Text nftasks">
            <a:extLst>
              <a:ext uri="{FF2B5EF4-FFF2-40B4-BE49-F238E27FC236}">
                <a16:creationId xmlns:a16="http://schemas.microsoft.com/office/drawing/2014/main" id="{3A70EF4D-84C3-9095-D8FF-D43B4A88251A}"/>
              </a:ext>
            </a:extLst>
          </p:cNvPr>
          <p:cNvSpPr/>
          <p:nvPr/>
        </p:nvSpPr>
        <p:spPr>
          <a:xfrm>
            <a:off x="9899660" y="1435608"/>
            <a:ext cx="22188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>
                <a:solidFill>
                  <a:srgbClr val="FFFFFF"/>
                </a:solidFill>
                <a:latin typeface="Calibri" pitchFamily="34" charset="0"/>
              </a:rPr>
              <a:t>TASKS</a:t>
            </a:r>
          </a:p>
        </p:txBody>
      </p:sp>
      <p:sp>
        <p:nvSpPr>
          <p:cNvPr id="47" name="Shape divider">
            <a:extLst>
              <a:ext uri="{FF2B5EF4-FFF2-40B4-BE49-F238E27FC236}">
                <a16:creationId xmlns:a16="http://schemas.microsoft.com/office/drawing/2014/main" id="{3FEB646F-8172-982D-5EDE-74A11D719F37}"/>
              </a:ext>
            </a:extLst>
          </p:cNvPr>
          <p:cNvSpPr/>
          <p:nvPr/>
        </p:nvSpPr>
        <p:spPr>
          <a:xfrm>
            <a:off x="9899660" y="1947672"/>
            <a:ext cx="2164019" cy="22860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48" name="Shape dot0">
            <a:extLst>
              <a:ext uri="{FF2B5EF4-FFF2-40B4-BE49-F238E27FC236}">
                <a16:creationId xmlns:a16="http://schemas.microsoft.com/office/drawing/2014/main" id="{784A832D-4B9A-31EF-03EE-71AC78DFEF7B}"/>
              </a:ext>
            </a:extLst>
          </p:cNvPr>
          <p:cNvSpPr/>
          <p:nvPr/>
        </p:nvSpPr>
        <p:spPr>
          <a:xfrm>
            <a:off x="9899660" y="2167128"/>
            <a:ext cx="41911" cy="51435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9" name="Text task0">
            <a:extLst>
              <a:ext uri="{FF2B5EF4-FFF2-40B4-BE49-F238E27FC236}">
                <a16:creationId xmlns:a16="http://schemas.microsoft.com/office/drawing/2014/main" id="{A68B2600-AA11-B104-8D32-67401075A5DF}"/>
              </a:ext>
            </a:extLst>
          </p:cNvPr>
          <p:cNvSpPr/>
          <p:nvPr/>
        </p:nvSpPr>
        <p:spPr>
          <a:xfrm>
            <a:off x="9998339" y="2093976"/>
            <a:ext cx="2083628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D8DCE8"/>
                </a:solidFill>
                <a:latin typeface="Calibri" pitchFamily="34" charset="0"/>
              </a:rPr>
              <a:t>(U//FOUO) [Near-future task 1]</a:t>
            </a:r>
          </a:p>
        </p:txBody>
      </p:sp>
      <p:sp>
        <p:nvSpPr>
          <p:cNvPr id="50" name="Shape dot1">
            <a:extLst>
              <a:ext uri="{FF2B5EF4-FFF2-40B4-BE49-F238E27FC236}">
                <a16:creationId xmlns:a16="http://schemas.microsoft.com/office/drawing/2014/main" id="{74082992-91C2-2058-0F3E-2838992D6AF9}"/>
              </a:ext>
            </a:extLst>
          </p:cNvPr>
          <p:cNvSpPr/>
          <p:nvPr/>
        </p:nvSpPr>
        <p:spPr>
          <a:xfrm>
            <a:off x="9899660" y="2900568"/>
            <a:ext cx="41911" cy="51435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51" name="Text task1">
            <a:extLst>
              <a:ext uri="{FF2B5EF4-FFF2-40B4-BE49-F238E27FC236}">
                <a16:creationId xmlns:a16="http://schemas.microsoft.com/office/drawing/2014/main" id="{4ADA4A14-3F13-96E1-26BF-4C27513F5BC4}"/>
              </a:ext>
            </a:extLst>
          </p:cNvPr>
          <p:cNvSpPr/>
          <p:nvPr/>
        </p:nvSpPr>
        <p:spPr>
          <a:xfrm>
            <a:off x="9998339" y="2827416"/>
            <a:ext cx="2083628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D8DCE8"/>
                </a:solidFill>
                <a:latin typeface="Calibri" pitchFamily="34" charset="0"/>
              </a:rPr>
              <a:t>(U//FOUO) [Near-future task 2]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(U) Tier 1 – Nanostorm T&amp;D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</a:rPr>
              <a:t>(U) Tier 1 – Nanostorm T&amp;D</a:t>
            </a: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DDD1AD0-D7D2-9F8A-26BD-C81DB4603081}"/>
              </a:ext>
            </a:extLst>
          </p:cNvPr>
          <p:cNvGrpSpPr/>
          <p:nvPr/>
        </p:nvGrpSpPr>
        <p:grpSpPr>
          <a:xfrm>
            <a:off x="327703" y="1433300"/>
            <a:ext cx="9176216" cy="4748127"/>
            <a:chOff x="327703" y="1433300"/>
            <a:chExt cx="9176216" cy="4748127"/>
          </a:xfrm>
        </p:grpSpPr>
        <p:sp>
          <p:nvSpPr>
            <p:cNvPr id="25" name="Shape 18">
              <a:extLst>
                <a:ext uri="{FF2B5EF4-FFF2-40B4-BE49-F238E27FC236}">
                  <a16:creationId xmlns:a16="http://schemas.microsoft.com/office/drawing/2014/main" id="{B7FEF7AA-1EFE-AD2B-24FF-11A480CFF346}"/>
                </a:ext>
              </a:extLst>
            </p:cNvPr>
            <p:cNvSpPr/>
            <p:nvPr/>
          </p:nvSpPr>
          <p:spPr>
            <a:xfrm>
              <a:off x="327703" y="1433300"/>
              <a:ext cx="919341" cy="227792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71A4"/>
              </a:solidFill>
              <a:prstDash val="solid"/>
            </a:ln>
          </p:spPr>
        </p:sp>
        <p:sp>
          <p:nvSpPr>
            <p:cNvPr id="26" name="Shape 19">
              <a:extLst>
                <a:ext uri="{FF2B5EF4-FFF2-40B4-BE49-F238E27FC236}">
                  <a16:creationId xmlns:a16="http://schemas.microsoft.com/office/drawing/2014/main" id="{F62145AD-AE1F-3535-8328-A7153BC47C10}"/>
                </a:ext>
              </a:extLst>
            </p:cNvPr>
            <p:cNvSpPr/>
            <p:nvPr/>
          </p:nvSpPr>
          <p:spPr>
            <a:xfrm>
              <a:off x="327703" y="1442824"/>
              <a:ext cx="45967" cy="2277922"/>
            </a:xfrm>
            <a:prstGeom prst="rect">
              <a:avLst/>
            </a:prstGeom>
            <a:solidFill>
              <a:srgbClr val="0071A4"/>
            </a:solidFill>
            <a:ln w="12700">
              <a:solidFill>
                <a:srgbClr val="0071A4"/>
              </a:solidFill>
              <a:prstDash val="solid"/>
            </a:ln>
          </p:spPr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42A5AE36-4A9E-C8D4-84EB-2FC1AB2A912E}"/>
                </a:ext>
              </a:extLst>
            </p:cNvPr>
            <p:cNvSpPr/>
            <p:nvPr/>
          </p:nvSpPr>
          <p:spPr>
            <a:xfrm>
              <a:off x="327703" y="1442824"/>
              <a:ext cx="919341" cy="12528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071A4"/>
                  </a:solidFill>
                  <a:latin typeface="Cambria"/>
                  <a:ea typeface="Cambria"/>
                  <a:cs typeface="Calibri" pitchFamily="34" charset="-120"/>
                </a:rPr>
                <a:t>DX</a:t>
              </a:r>
              <a:endParaRPr lang="en-US" sz="2200">
                <a:latin typeface="Cambria"/>
                <a:ea typeface="Cambria"/>
              </a:endParaRPr>
            </a:p>
          </p:txBody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F86E7E9A-05B3-AA7A-F4F9-7CF35A278675}"/>
                </a:ext>
              </a:extLst>
            </p:cNvPr>
            <p:cNvSpPr/>
            <p:nvPr/>
          </p:nvSpPr>
          <p:spPr>
            <a:xfrm>
              <a:off x="373670" y="2741240"/>
              <a:ext cx="845793" cy="865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>
                  <a:solidFill>
                    <a:srgbClr val="0071A4"/>
                  </a:solidFill>
                  <a:latin typeface="Calibri"/>
                  <a:ea typeface="Calibri"/>
                  <a:cs typeface="Calibri"/>
                </a:rPr>
                <a:t>DataXplorer</a:t>
              </a:r>
              <a:endParaRPr lang="en-US" sz="105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" name="Shape 50">
              <a:extLst>
                <a:ext uri="{FF2B5EF4-FFF2-40B4-BE49-F238E27FC236}">
                  <a16:creationId xmlns:a16="http://schemas.microsoft.com/office/drawing/2014/main" id="{9B7B2353-EFFD-312E-47CA-27D0933D1E05}"/>
                </a:ext>
              </a:extLst>
            </p:cNvPr>
            <p:cNvSpPr/>
            <p:nvPr/>
          </p:nvSpPr>
          <p:spPr>
            <a:xfrm>
              <a:off x="327703" y="3893979"/>
              <a:ext cx="917435" cy="2287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6030A0"/>
              </a:solidFill>
              <a:prstDash val="solid"/>
            </a:ln>
          </p:spPr>
        </p:sp>
        <p:sp>
          <p:nvSpPr>
            <p:cNvPr id="38" name="Shape 51">
              <a:extLst>
                <a:ext uri="{FF2B5EF4-FFF2-40B4-BE49-F238E27FC236}">
                  <a16:creationId xmlns:a16="http://schemas.microsoft.com/office/drawing/2014/main" id="{EA3182BA-58D8-132D-48E2-3FE7CB0974EF}"/>
                </a:ext>
              </a:extLst>
            </p:cNvPr>
            <p:cNvSpPr/>
            <p:nvPr/>
          </p:nvSpPr>
          <p:spPr>
            <a:xfrm>
              <a:off x="327703" y="3893978"/>
              <a:ext cx="45872" cy="2287448"/>
            </a:xfrm>
            <a:prstGeom prst="rect">
              <a:avLst/>
            </a:prstGeom>
            <a:solidFill>
              <a:srgbClr val="6030A0"/>
            </a:solidFill>
            <a:ln w="12700">
              <a:solidFill>
                <a:srgbClr val="6030A0"/>
              </a:solidFill>
              <a:prstDash val="solid"/>
            </a:ln>
          </p:spPr>
        </p:sp>
        <p:sp>
          <p:nvSpPr>
            <p:cNvPr id="39" name="Text 52">
              <a:extLst>
                <a:ext uri="{FF2B5EF4-FFF2-40B4-BE49-F238E27FC236}">
                  <a16:creationId xmlns:a16="http://schemas.microsoft.com/office/drawing/2014/main" id="{5466F945-C675-27A1-FBE6-596A2E4860EF}"/>
                </a:ext>
              </a:extLst>
            </p:cNvPr>
            <p:cNvSpPr/>
            <p:nvPr/>
          </p:nvSpPr>
          <p:spPr>
            <a:xfrm>
              <a:off x="327703" y="3893978"/>
              <a:ext cx="917435" cy="125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6030A0"/>
                  </a:solidFill>
                  <a:latin typeface="Cambria"/>
                  <a:ea typeface="Cambria"/>
                  <a:cs typeface="Calibri" pitchFamily="34" charset="-120"/>
                </a:rPr>
                <a:t>RC</a:t>
              </a:r>
              <a:endParaRPr lang="en-US" sz="2200">
                <a:latin typeface="Cambria"/>
                <a:ea typeface="Cambria"/>
              </a:endParaRPr>
            </a:p>
          </p:txBody>
        </p:sp>
        <p:sp>
          <p:nvSpPr>
            <p:cNvPr id="40" name="Text 53">
              <a:extLst>
                <a:ext uri="{FF2B5EF4-FFF2-40B4-BE49-F238E27FC236}">
                  <a16:creationId xmlns:a16="http://schemas.microsoft.com/office/drawing/2014/main" id="{FB2AB802-E3F3-777E-1F6B-7299AE4954A2}"/>
                </a:ext>
              </a:extLst>
            </p:cNvPr>
            <p:cNvSpPr/>
            <p:nvPr/>
          </p:nvSpPr>
          <p:spPr>
            <a:xfrm>
              <a:off x="373575" y="5197824"/>
              <a:ext cx="844040" cy="8692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>
                  <a:solidFill>
                    <a:srgbClr val="6030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Rollercoaster</a:t>
              </a:r>
              <a:endParaRPr lang="en-US" sz="105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E0EBBCB-E3BB-07E1-25A5-F87C6B91E5B1}"/>
                </a:ext>
              </a:extLst>
            </p:cNvPr>
            <p:cNvGrpSpPr/>
            <p:nvPr/>
          </p:nvGrpSpPr>
          <p:grpSpPr>
            <a:xfrm>
              <a:off x="1358077" y="1433300"/>
              <a:ext cx="8145842" cy="4738600"/>
              <a:chOff x="1358077" y="1423775"/>
              <a:chExt cx="3564317" cy="4757651"/>
            </a:xfrm>
          </p:grpSpPr>
          <p:sp>
            <p:nvSpPr>
              <p:cNvPr id="42" name="Shape 22">
                <a:extLst>
                  <a:ext uri="{FF2B5EF4-FFF2-40B4-BE49-F238E27FC236}">
                    <a16:creationId xmlns:a16="http://schemas.microsoft.com/office/drawing/2014/main" id="{FB711CEC-0782-DA81-4590-411CC07AA46A}"/>
                  </a:ext>
                </a:extLst>
              </p:cNvPr>
              <p:cNvSpPr/>
              <p:nvPr/>
            </p:nvSpPr>
            <p:spPr>
              <a:xfrm>
                <a:off x="1360217" y="1423775"/>
                <a:ext cx="3562177" cy="227792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71A4"/>
                </a:solidFill>
                <a:prstDash val="solid"/>
              </a:ln>
            </p:spPr>
          </p:sp>
          <p:sp>
            <p:nvSpPr>
              <p:cNvPr id="43" name="Text 23">
                <a:extLst>
                  <a:ext uri="{FF2B5EF4-FFF2-40B4-BE49-F238E27FC236}">
                    <a16:creationId xmlns:a16="http://schemas.microsoft.com/office/drawing/2014/main" id="{AB82E486-5DD9-37F1-F30F-5223C21847D4}"/>
                  </a:ext>
                </a:extLst>
              </p:cNvPr>
              <p:cNvSpPr/>
              <p:nvPr/>
            </p:nvSpPr>
            <p:spPr>
              <a:xfrm>
                <a:off x="1456967" y="1616564"/>
                <a:ext cx="3368677" cy="20962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1A1E28"/>
                    </a:solidFill>
                    <a:latin typeface="Calibri"/>
                    <a:ea typeface="Calibri"/>
                    <a:cs typeface="Calibri"/>
                  </a:rPr>
                  <a:t>(U//FOUO) work completed this period.</a:t>
                </a:r>
                <a:endParaRPr lang="en-US" sz="1300"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44" name="Shape 54">
                <a:extLst>
                  <a:ext uri="{FF2B5EF4-FFF2-40B4-BE49-F238E27FC236}">
                    <a16:creationId xmlns:a16="http://schemas.microsoft.com/office/drawing/2014/main" id="{48421377-5AC1-6E8B-EFFA-3A70A76B231A}"/>
                  </a:ext>
                </a:extLst>
              </p:cNvPr>
              <p:cNvSpPr/>
              <p:nvPr/>
            </p:nvSpPr>
            <p:spPr>
              <a:xfrm>
                <a:off x="1358077" y="3893978"/>
                <a:ext cx="3554792" cy="228744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6030A0"/>
                </a:solidFill>
                <a:prstDash val="solid"/>
              </a:ln>
            </p:spPr>
          </p:sp>
          <p:sp>
            <p:nvSpPr>
              <p:cNvPr id="45" name="Text 55">
                <a:extLst>
                  <a:ext uri="{FF2B5EF4-FFF2-40B4-BE49-F238E27FC236}">
                    <a16:creationId xmlns:a16="http://schemas.microsoft.com/office/drawing/2014/main" id="{BD31E3B0-878A-097B-2872-F8583932F204}"/>
                  </a:ext>
                </a:extLst>
              </p:cNvPr>
              <p:cNvSpPr/>
              <p:nvPr/>
            </p:nvSpPr>
            <p:spPr>
              <a:xfrm>
                <a:off x="1454626" y="4068444"/>
                <a:ext cx="3361694" cy="21092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1A1E2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(U//FOUO) Bug fixes, stability patches, and mission support tasks completed this period.</a:t>
                </a:r>
                <a:endParaRPr lang="en-US" sz="1300"/>
              </a:p>
            </p:txBody>
          </p:sp>
        </p:grpSp>
      </p:grpSp>
      <p:sp>
        <p:nvSpPr>
          <p:cNvPr id="48" name="Shape nfpanel">
            <a:extLst>
              <a:ext uri="{FF2B5EF4-FFF2-40B4-BE49-F238E27FC236}">
                <a16:creationId xmlns:a16="http://schemas.microsoft.com/office/drawing/2014/main" id="{0732DC64-ABA4-128A-C8FC-237BD0983F49}"/>
              </a:ext>
            </a:extLst>
          </p:cNvPr>
          <p:cNvSpPr/>
          <p:nvPr/>
        </p:nvSpPr>
        <p:spPr>
          <a:xfrm>
            <a:off x="9753356" y="996696"/>
            <a:ext cx="2438339" cy="5660136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50" name="Text nflabel">
            <a:extLst>
              <a:ext uri="{FF2B5EF4-FFF2-40B4-BE49-F238E27FC236}">
                <a16:creationId xmlns:a16="http://schemas.microsoft.com/office/drawing/2014/main" id="{8D89BB0E-BE7C-D3DB-61A2-FBE3CCF406BA}"/>
              </a:ext>
            </a:extLst>
          </p:cNvPr>
          <p:cNvSpPr/>
          <p:nvPr/>
        </p:nvSpPr>
        <p:spPr>
          <a:xfrm>
            <a:off x="9899660" y="1179576"/>
            <a:ext cx="2218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F5A800"/>
                </a:solidFill>
                <a:latin typeface="Cambria"/>
                <a:ea typeface="Cambria"/>
              </a:rPr>
              <a:t>NEAR-FUTURE</a:t>
            </a:r>
          </a:p>
        </p:txBody>
      </p:sp>
      <p:sp>
        <p:nvSpPr>
          <p:cNvPr id="52" name="Text nftasks">
            <a:extLst>
              <a:ext uri="{FF2B5EF4-FFF2-40B4-BE49-F238E27FC236}">
                <a16:creationId xmlns:a16="http://schemas.microsoft.com/office/drawing/2014/main" id="{D17DF139-FE35-6BEF-BF97-D44A611C1B96}"/>
              </a:ext>
            </a:extLst>
          </p:cNvPr>
          <p:cNvSpPr/>
          <p:nvPr/>
        </p:nvSpPr>
        <p:spPr>
          <a:xfrm>
            <a:off x="9899660" y="1435608"/>
            <a:ext cx="22188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>
                <a:solidFill>
                  <a:srgbClr val="FFFFFF"/>
                </a:solidFill>
                <a:latin typeface="Calibri" pitchFamily="34" charset="0"/>
              </a:rPr>
              <a:t>TASKS</a:t>
            </a:r>
          </a:p>
        </p:txBody>
      </p:sp>
      <p:sp>
        <p:nvSpPr>
          <p:cNvPr id="54" name="Shape divider">
            <a:extLst>
              <a:ext uri="{FF2B5EF4-FFF2-40B4-BE49-F238E27FC236}">
                <a16:creationId xmlns:a16="http://schemas.microsoft.com/office/drawing/2014/main" id="{0B68FB84-9EC1-0575-F37A-B3DF4E7429FC}"/>
              </a:ext>
            </a:extLst>
          </p:cNvPr>
          <p:cNvSpPr/>
          <p:nvPr/>
        </p:nvSpPr>
        <p:spPr>
          <a:xfrm>
            <a:off x="9899660" y="1947672"/>
            <a:ext cx="2164019" cy="22860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56" name="Text task0">
            <a:extLst>
              <a:ext uri="{FF2B5EF4-FFF2-40B4-BE49-F238E27FC236}">
                <a16:creationId xmlns:a16="http://schemas.microsoft.com/office/drawing/2014/main" id="{8FCCF4FC-E73E-C0AF-2EDB-2587F2BEDF11}"/>
              </a:ext>
            </a:extLst>
          </p:cNvPr>
          <p:cNvSpPr/>
          <p:nvPr/>
        </p:nvSpPr>
        <p:spPr>
          <a:xfrm>
            <a:off x="9998339" y="2093976"/>
            <a:ext cx="2083628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D8DCE8"/>
                </a:solidFill>
                <a:latin typeface="Calibri" pitchFamily="34" charset="0"/>
              </a:rPr>
              <a:t>(U//FOUO) DX SDP documentation review — submission pending.</a:t>
            </a:r>
          </a:p>
        </p:txBody>
      </p:sp>
      <p:sp>
        <p:nvSpPr>
          <p:cNvPr id="58" name="Shape dot0">
            <a:extLst>
              <a:ext uri="{FF2B5EF4-FFF2-40B4-BE49-F238E27FC236}">
                <a16:creationId xmlns:a16="http://schemas.microsoft.com/office/drawing/2014/main" id="{C04BE848-1801-685E-1D0C-50CC8769B5C9}"/>
              </a:ext>
            </a:extLst>
          </p:cNvPr>
          <p:cNvSpPr/>
          <p:nvPr/>
        </p:nvSpPr>
        <p:spPr>
          <a:xfrm>
            <a:off x="9899660" y="2167128"/>
            <a:ext cx="41911" cy="51435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(U) Tier 1 – Sensitive Data Protection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</a:rPr>
              <a:t>(U//FOUO) Tier 1 – Sensitive Data Protection</a:t>
            </a: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2" name="Shape nfpanel"/>
          <p:cNvSpPr/>
          <p:nvPr/>
        </p:nvSpPr>
        <p:spPr>
          <a:xfrm>
            <a:off x="9753356" y="996696"/>
            <a:ext cx="2438339" cy="5660136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23" name="Shape nfaccent"/>
          <p:cNvSpPr/>
          <p:nvPr/>
        </p:nvSpPr>
        <p:spPr>
          <a:xfrm>
            <a:off x="9753356" y="996696"/>
            <a:ext cx="54864" cy="566013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4" name="Text nflabel"/>
          <p:cNvSpPr/>
          <p:nvPr/>
        </p:nvSpPr>
        <p:spPr>
          <a:xfrm>
            <a:off x="9899660" y="1179576"/>
            <a:ext cx="2218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F5A800"/>
                </a:solidFill>
                <a:latin typeface="Cambria"/>
                <a:ea typeface="Cambria"/>
              </a:rPr>
              <a:t>NEAR-FUTURE</a:t>
            </a:r>
          </a:p>
        </p:txBody>
      </p:sp>
      <p:sp>
        <p:nvSpPr>
          <p:cNvPr id="25" name="Text nftasks"/>
          <p:cNvSpPr/>
          <p:nvPr/>
        </p:nvSpPr>
        <p:spPr>
          <a:xfrm>
            <a:off x="9899660" y="1435608"/>
            <a:ext cx="22188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>
                <a:solidFill>
                  <a:srgbClr val="FFFFFF"/>
                </a:solidFill>
                <a:latin typeface="Calibri" pitchFamily="34" charset="0"/>
              </a:rPr>
              <a:t>TASKS</a:t>
            </a:r>
          </a:p>
        </p:txBody>
      </p:sp>
      <p:sp>
        <p:nvSpPr>
          <p:cNvPr id="124" name="Shape divider"/>
          <p:cNvSpPr/>
          <p:nvPr/>
        </p:nvSpPr>
        <p:spPr>
          <a:xfrm>
            <a:off x="9899660" y="1947672"/>
            <a:ext cx="2164019" cy="22860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6" name="Shape dot0"/>
          <p:cNvSpPr/>
          <p:nvPr/>
        </p:nvSpPr>
        <p:spPr>
          <a:xfrm>
            <a:off x="9899660" y="2167128"/>
            <a:ext cx="41911" cy="51435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7" name="Text task0"/>
          <p:cNvSpPr/>
          <p:nvPr/>
        </p:nvSpPr>
        <p:spPr>
          <a:xfrm>
            <a:off x="9998339" y="2093976"/>
            <a:ext cx="2083628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D8DCE8"/>
                </a:solidFill>
                <a:latin typeface="Calibri" pitchFamily="34" charset="0"/>
              </a:rPr>
              <a:t>(U//FOUO) DX SDP documentation review — submission pending.</a:t>
            </a:r>
          </a:p>
        </p:txBody>
      </p:sp>
      <p:sp>
        <p:nvSpPr>
          <p:cNvPr id="28" name="Shape dot1"/>
          <p:cNvSpPr/>
          <p:nvPr/>
        </p:nvSpPr>
        <p:spPr>
          <a:xfrm>
            <a:off x="9899660" y="2900568"/>
            <a:ext cx="41911" cy="51435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2484280-BD0E-A270-A0ED-95F01BF596D9}"/>
              </a:ext>
            </a:extLst>
          </p:cNvPr>
          <p:cNvGrpSpPr/>
          <p:nvPr/>
        </p:nvGrpSpPr>
        <p:grpSpPr>
          <a:xfrm>
            <a:off x="327703" y="1433300"/>
            <a:ext cx="9176216" cy="4748127"/>
            <a:chOff x="327703" y="1433300"/>
            <a:chExt cx="9176216" cy="4748127"/>
          </a:xfrm>
        </p:grpSpPr>
        <p:sp>
          <p:nvSpPr>
            <p:cNvPr id="55" name="Shape 18">
              <a:extLst>
                <a:ext uri="{FF2B5EF4-FFF2-40B4-BE49-F238E27FC236}">
                  <a16:creationId xmlns:a16="http://schemas.microsoft.com/office/drawing/2014/main" id="{5DADA4FF-3344-566E-DEE3-0026D2C01043}"/>
                </a:ext>
              </a:extLst>
            </p:cNvPr>
            <p:cNvSpPr/>
            <p:nvPr/>
          </p:nvSpPr>
          <p:spPr>
            <a:xfrm>
              <a:off x="327703" y="1433300"/>
              <a:ext cx="919341" cy="227792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71A4"/>
              </a:solidFill>
              <a:prstDash val="solid"/>
            </a:ln>
          </p:spPr>
        </p:sp>
        <p:sp>
          <p:nvSpPr>
            <p:cNvPr id="57" name="Shape 19">
              <a:extLst>
                <a:ext uri="{FF2B5EF4-FFF2-40B4-BE49-F238E27FC236}">
                  <a16:creationId xmlns:a16="http://schemas.microsoft.com/office/drawing/2014/main" id="{81AEFEDF-704A-0B75-AA8A-517EDAC35102}"/>
                </a:ext>
              </a:extLst>
            </p:cNvPr>
            <p:cNvSpPr/>
            <p:nvPr/>
          </p:nvSpPr>
          <p:spPr>
            <a:xfrm>
              <a:off x="327703" y="1442824"/>
              <a:ext cx="45967" cy="2277922"/>
            </a:xfrm>
            <a:prstGeom prst="rect">
              <a:avLst/>
            </a:prstGeom>
            <a:solidFill>
              <a:srgbClr val="0071A4"/>
            </a:solidFill>
            <a:ln w="12700">
              <a:solidFill>
                <a:srgbClr val="0071A4"/>
              </a:solidFill>
              <a:prstDash val="solid"/>
            </a:ln>
          </p:spPr>
        </p:sp>
        <p:sp>
          <p:nvSpPr>
            <p:cNvPr id="59" name="Text 20">
              <a:extLst>
                <a:ext uri="{FF2B5EF4-FFF2-40B4-BE49-F238E27FC236}">
                  <a16:creationId xmlns:a16="http://schemas.microsoft.com/office/drawing/2014/main" id="{7538D610-F046-BFAA-08A0-9D86749BA42E}"/>
                </a:ext>
              </a:extLst>
            </p:cNvPr>
            <p:cNvSpPr/>
            <p:nvPr/>
          </p:nvSpPr>
          <p:spPr>
            <a:xfrm>
              <a:off x="327703" y="1442824"/>
              <a:ext cx="919341" cy="12528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071A4"/>
                  </a:solidFill>
                  <a:latin typeface="Cambria"/>
                  <a:ea typeface="Cambria"/>
                  <a:cs typeface="Calibri" pitchFamily="34" charset="-120"/>
                </a:rPr>
                <a:t>DX</a:t>
              </a:r>
              <a:endParaRPr lang="en-US" sz="2200">
                <a:latin typeface="Cambria"/>
                <a:ea typeface="Cambria"/>
              </a:endParaRPr>
            </a:p>
          </p:txBody>
        </p:sp>
        <p:sp>
          <p:nvSpPr>
            <p:cNvPr id="61" name="Text 21">
              <a:extLst>
                <a:ext uri="{FF2B5EF4-FFF2-40B4-BE49-F238E27FC236}">
                  <a16:creationId xmlns:a16="http://schemas.microsoft.com/office/drawing/2014/main" id="{E8052C02-5DFC-FD8C-6564-17C89AA284E6}"/>
                </a:ext>
              </a:extLst>
            </p:cNvPr>
            <p:cNvSpPr/>
            <p:nvPr/>
          </p:nvSpPr>
          <p:spPr>
            <a:xfrm>
              <a:off x="373670" y="2741240"/>
              <a:ext cx="845793" cy="865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>
                  <a:solidFill>
                    <a:srgbClr val="0071A4"/>
                  </a:solidFill>
                  <a:latin typeface="Calibri"/>
                  <a:ea typeface="Calibri"/>
                  <a:cs typeface="Calibri"/>
                </a:rPr>
                <a:t>DataXplorer</a:t>
              </a:r>
              <a:endParaRPr lang="en-US" sz="105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3" name="Shape 50">
              <a:extLst>
                <a:ext uri="{FF2B5EF4-FFF2-40B4-BE49-F238E27FC236}">
                  <a16:creationId xmlns:a16="http://schemas.microsoft.com/office/drawing/2014/main" id="{9B1916C5-E3A8-D7B1-9410-5009673646DB}"/>
                </a:ext>
              </a:extLst>
            </p:cNvPr>
            <p:cNvSpPr/>
            <p:nvPr/>
          </p:nvSpPr>
          <p:spPr>
            <a:xfrm>
              <a:off x="327703" y="3893979"/>
              <a:ext cx="917435" cy="2287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6030A0"/>
              </a:solidFill>
              <a:prstDash val="solid"/>
            </a:ln>
          </p:spPr>
        </p:sp>
        <p:sp>
          <p:nvSpPr>
            <p:cNvPr id="95" name="Shape 51">
              <a:extLst>
                <a:ext uri="{FF2B5EF4-FFF2-40B4-BE49-F238E27FC236}">
                  <a16:creationId xmlns:a16="http://schemas.microsoft.com/office/drawing/2014/main" id="{D1CA3057-54A0-1F48-E233-BB95F7E059CF}"/>
                </a:ext>
              </a:extLst>
            </p:cNvPr>
            <p:cNvSpPr/>
            <p:nvPr/>
          </p:nvSpPr>
          <p:spPr>
            <a:xfrm>
              <a:off x="327703" y="3893978"/>
              <a:ext cx="45872" cy="2287448"/>
            </a:xfrm>
            <a:prstGeom prst="rect">
              <a:avLst/>
            </a:prstGeom>
            <a:solidFill>
              <a:srgbClr val="6030A0"/>
            </a:solidFill>
            <a:ln w="12700">
              <a:solidFill>
                <a:srgbClr val="6030A0"/>
              </a:solidFill>
              <a:prstDash val="solid"/>
            </a:ln>
          </p:spPr>
        </p:sp>
        <p:sp>
          <p:nvSpPr>
            <p:cNvPr id="97" name="Text 52">
              <a:extLst>
                <a:ext uri="{FF2B5EF4-FFF2-40B4-BE49-F238E27FC236}">
                  <a16:creationId xmlns:a16="http://schemas.microsoft.com/office/drawing/2014/main" id="{EFD19D0E-6E63-9330-8BFC-18DE4FE59E0D}"/>
                </a:ext>
              </a:extLst>
            </p:cNvPr>
            <p:cNvSpPr/>
            <p:nvPr/>
          </p:nvSpPr>
          <p:spPr>
            <a:xfrm>
              <a:off x="327703" y="3893978"/>
              <a:ext cx="917435" cy="125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6030A0"/>
                  </a:solidFill>
                  <a:latin typeface="Cambria"/>
                  <a:ea typeface="Cambria"/>
                  <a:cs typeface="Calibri" pitchFamily="34" charset="-120"/>
                </a:rPr>
                <a:t>RC</a:t>
              </a:r>
              <a:endParaRPr lang="en-US" sz="2200">
                <a:latin typeface="Cambria"/>
                <a:ea typeface="Cambria"/>
              </a:endParaRPr>
            </a:p>
          </p:txBody>
        </p:sp>
        <p:sp>
          <p:nvSpPr>
            <p:cNvPr id="99" name="Text 53">
              <a:extLst>
                <a:ext uri="{FF2B5EF4-FFF2-40B4-BE49-F238E27FC236}">
                  <a16:creationId xmlns:a16="http://schemas.microsoft.com/office/drawing/2014/main" id="{2514423A-118F-A442-A266-6FA48C2BB43D}"/>
                </a:ext>
              </a:extLst>
            </p:cNvPr>
            <p:cNvSpPr/>
            <p:nvPr/>
          </p:nvSpPr>
          <p:spPr>
            <a:xfrm>
              <a:off x="373575" y="5197824"/>
              <a:ext cx="844040" cy="8692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>
                  <a:solidFill>
                    <a:srgbClr val="6030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Rollercoaster</a:t>
              </a:r>
              <a:endParaRPr lang="en-US" sz="1050"/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D8364756-B003-E192-EB2D-D37B07002ACC}"/>
                </a:ext>
              </a:extLst>
            </p:cNvPr>
            <p:cNvGrpSpPr/>
            <p:nvPr/>
          </p:nvGrpSpPr>
          <p:grpSpPr>
            <a:xfrm>
              <a:off x="1358077" y="1433300"/>
              <a:ext cx="8145842" cy="4738601"/>
              <a:chOff x="1358077" y="1423775"/>
              <a:chExt cx="3564317" cy="4757651"/>
            </a:xfrm>
          </p:grpSpPr>
          <p:sp>
            <p:nvSpPr>
              <p:cNvPr id="79" name="Shape 22">
                <a:extLst>
                  <a:ext uri="{FF2B5EF4-FFF2-40B4-BE49-F238E27FC236}">
                    <a16:creationId xmlns:a16="http://schemas.microsoft.com/office/drawing/2014/main" id="{6ABAA1D8-3E62-9C19-8928-ECBA4CF5677F}"/>
                  </a:ext>
                </a:extLst>
              </p:cNvPr>
              <p:cNvSpPr/>
              <p:nvPr/>
            </p:nvSpPr>
            <p:spPr>
              <a:xfrm>
                <a:off x="1360217" y="1423775"/>
                <a:ext cx="3562177" cy="227792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71A4"/>
                </a:solidFill>
                <a:prstDash val="solid"/>
              </a:ln>
            </p:spPr>
          </p:sp>
          <p:sp>
            <p:nvSpPr>
              <p:cNvPr id="81" name="Text 23">
                <a:extLst>
                  <a:ext uri="{FF2B5EF4-FFF2-40B4-BE49-F238E27FC236}">
                    <a16:creationId xmlns:a16="http://schemas.microsoft.com/office/drawing/2014/main" id="{EF6E8D93-4F41-DC40-1F65-A23E4FA6BC6C}"/>
                  </a:ext>
                </a:extLst>
              </p:cNvPr>
              <p:cNvSpPr/>
              <p:nvPr/>
            </p:nvSpPr>
            <p:spPr>
              <a:xfrm>
                <a:off x="1456967" y="1616564"/>
                <a:ext cx="3368677" cy="20962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1A1E28"/>
                    </a:solidFill>
                    <a:latin typeface="Calibri"/>
                    <a:ea typeface="Calibri"/>
                    <a:cs typeface="Calibri"/>
                  </a:rPr>
                  <a:t>(U//FOUO) work completed this period.</a:t>
                </a:r>
                <a:endParaRPr lang="en-US" sz="1300"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01" name="Shape 54">
                <a:extLst>
                  <a:ext uri="{FF2B5EF4-FFF2-40B4-BE49-F238E27FC236}">
                    <a16:creationId xmlns:a16="http://schemas.microsoft.com/office/drawing/2014/main" id="{E80D3248-F6E9-6E69-4B13-9A6B0F65D8F5}"/>
                  </a:ext>
                </a:extLst>
              </p:cNvPr>
              <p:cNvSpPr/>
              <p:nvPr/>
            </p:nvSpPr>
            <p:spPr>
              <a:xfrm>
                <a:off x="1358077" y="3893978"/>
                <a:ext cx="3554792" cy="228744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6030A0"/>
                </a:solidFill>
                <a:prstDash val="solid"/>
              </a:ln>
            </p:spPr>
          </p:sp>
          <p:sp>
            <p:nvSpPr>
              <p:cNvPr id="103" name="Text 55">
                <a:extLst>
                  <a:ext uri="{FF2B5EF4-FFF2-40B4-BE49-F238E27FC236}">
                    <a16:creationId xmlns:a16="http://schemas.microsoft.com/office/drawing/2014/main" id="{77D255EE-3466-E016-5BF1-5E21BADD53E6}"/>
                  </a:ext>
                </a:extLst>
              </p:cNvPr>
              <p:cNvSpPr/>
              <p:nvPr/>
            </p:nvSpPr>
            <p:spPr>
              <a:xfrm>
                <a:off x="1454626" y="4068444"/>
                <a:ext cx="3361694" cy="21092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1A1E2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(U//FOUO) Bug fixes, stability patches, and mission support tasks completed this period.</a:t>
                </a:r>
                <a:endParaRPr lang="en-US" sz="1300"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er 2 Divider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6" name="Shape dark"/>
          <p:cNvSpPr/>
          <p:nvPr/>
        </p:nvSpPr>
        <p:spPr>
          <a:xfrm>
            <a:off x="0" y="201168"/>
            <a:ext cx="3474720" cy="6455664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accent"/>
          <p:cNvSpPr/>
          <p:nvPr/>
        </p:nvSpPr>
        <p:spPr>
          <a:xfrm>
            <a:off x="0" y="201168"/>
            <a:ext cx="64008" cy="6455664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8" name="Text ghost"/>
          <p:cNvSpPr/>
          <p:nvPr/>
        </p:nvSpPr>
        <p:spPr>
          <a:xfrm>
            <a:off x="164592" y="384048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>
                <a:solidFill>
                  <a:srgbClr val="FFFFFF">
                    <a:alpha val="8000"/>
                  </a:srgbClr>
                </a:solidFill>
                <a:latin typeface="Calibri"/>
              </a:rPr>
              <a:t>T2</a:t>
            </a:r>
          </a:p>
        </p:txBody>
      </p:sp>
      <p:sp>
        <p:nvSpPr>
          <p:cNvPr id="9" name="Text tierlabel"/>
          <p:cNvSpPr/>
          <p:nvPr/>
        </p:nvSpPr>
        <p:spPr>
          <a:xfrm>
            <a:off x="164592" y="70408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6030A0"/>
                </a:solidFill>
                <a:latin typeface="Calibri"/>
              </a:rPr>
              <a:t>T2</a:t>
            </a:r>
          </a:p>
        </p:txBody>
      </p:sp>
      <p:sp>
        <p:nvSpPr>
          <p:cNvPr id="10" name="Text subtitle"/>
          <p:cNvSpPr/>
          <p:nvPr/>
        </p:nvSpPr>
        <p:spPr>
          <a:xfrm>
            <a:off x="164592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kern="0" spc="200">
                <a:solidFill>
                  <a:srgbClr val="8899BB"/>
                </a:solidFill>
                <a:latin typeface="Calibri"/>
              </a:rPr>
              <a:t>MISSION SUPPORT</a:t>
            </a: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016752"/>
            <a:ext cx="457200" cy="457200"/>
          </a:xfrm>
          <a:prstGeom prst="rect">
            <a:avLst/>
          </a:prstGeom>
        </p:spPr>
      </p:pic>
      <p:sp>
        <p:nvSpPr>
          <p:cNvPr id="13" name="Text tierheading"/>
          <p:cNvSpPr/>
          <p:nvPr/>
        </p:nvSpPr>
        <p:spPr>
          <a:xfrm>
            <a:off x="3794760" y="475488"/>
            <a:ext cx="81591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50">
                <a:solidFill>
                  <a:srgbClr val="6030A0"/>
                </a:solidFill>
                <a:latin typeface="Cambria"/>
                <a:ea typeface="Cambria"/>
              </a:rPr>
              <a:t>TIER 2</a:t>
            </a:r>
          </a:p>
        </p:txBody>
      </p:sp>
      <p:sp>
        <p:nvSpPr>
          <p:cNvPr id="14" name="Shape tierline"/>
          <p:cNvSpPr/>
          <p:nvPr/>
        </p:nvSpPr>
        <p:spPr>
          <a:xfrm>
            <a:off x="3794760" y="694944"/>
            <a:ext cx="8159191" cy="20117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15" name="Shape bar0"/>
          <p:cNvSpPr/>
          <p:nvPr/>
        </p:nvSpPr>
        <p:spPr>
          <a:xfrm>
            <a:off x="3794760" y="822960"/>
            <a:ext cx="22860" cy="377190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16" name="Text item0"/>
          <p:cNvSpPr/>
          <p:nvPr/>
        </p:nvSpPr>
        <p:spPr>
          <a:xfrm>
            <a:off x="3871059" y="822960"/>
            <a:ext cx="4577298" cy="37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/>
              </a:rPr>
              <a:t>Mission Support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(U) Tier 2 – Priority 1 – Mission Support</a:t>
            </a:r>
            <a:endParaRPr lang="en-US" sz="22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4828" y="1442823"/>
            <a:ext cx="919341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4828" y="1442823"/>
            <a:ext cx="45967" cy="1654989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4828" y="1442823"/>
            <a:ext cx="919341" cy="9102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0071A4"/>
                </a:solidFill>
                <a:latin typeface="Cambria"/>
                <a:ea typeface="Cambria"/>
                <a:cs typeface="Calibri" pitchFamily="34" charset="-120"/>
              </a:rPr>
              <a:t>DX</a:t>
            </a:r>
            <a:endParaRPr lang="en-US" sz="2200">
              <a:latin typeface="Cambria"/>
              <a:ea typeface="Cambria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30795" y="2386167"/>
            <a:ext cx="845793" cy="62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071A4"/>
                </a:solidFill>
                <a:latin typeface="Calibri"/>
                <a:ea typeface="Calibri"/>
                <a:cs typeface="Calibri"/>
              </a:rPr>
              <a:t>DataXplorer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184828" y="3139888"/>
            <a:ext cx="919341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84828" y="3139888"/>
            <a:ext cx="45967" cy="1654989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84828" y="3139888"/>
            <a:ext cx="919341" cy="9102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2952A3"/>
                </a:solidFill>
                <a:latin typeface="Cambria"/>
                <a:ea typeface="Cambria"/>
                <a:cs typeface="Calibri" pitchFamily="34" charset="-120"/>
              </a:rPr>
              <a:t>LX</a:t>
            </a:r>
            <a:endParaRPr lang="en-US" sz="2200">
              <a:latin typeface="Cambria"/>
              <a:ea typeface="Cambria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230795" y="4083232"/>
            <a:ext cx="845793" cy="62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295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LinkXplorer</a:t>
            </a:r>
            <a:endParaRPr lang="en-US" sz="1050"/>
          </a:p>
        </p:txBody>
      </p:sp>
      <p:sp>
        <p:nvSpPr>
          <p:cNvPr id="53" name="Shape 50"/>
          <p:cNvSpPr/>
          <p:nvPr/>
        </p:nvSpPr>
        <p:spPr>
          <a:xfrm>
            <a:off x="184828" y="4836954"/>
            <a:ext cx="919341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84828" y="4836954"/>
            <a:ext cx="45967" cy="1654989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84828" y="4836954"/>
            <a:ext cx="919341" cy="9102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>
                <a:solidFill>
                  <a:srgbClr val="6030A0"/>
                </a:solidFill>
                <a:latin typeface="Cambria"/>
                <a:ea typeface="Cambria"/>
                <a:cs typeface="Calibri" pitchFamily="34" charset="-120"/>
              </a:rPr>
              <a:t>RC</a:t>
            </a:r>
            <a:endParaRPr lang="en-US" sz="2200">
              <a:latin typeface="Cambria"/>
              <a:ea typeface="Cambria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230795" y="5780298"/>
            <a:ext cx="845793" cy="62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Rollercoaster</a:t>
            </a:r>
            <a:endParaRPr lang="en-US" sz="1050"/>
          </a:p>
        </p:txBody>
      </p:sp>
      <p:sp>
        <p:nvSpPr>
          <p:cNvPr id="12" name="Shape 9"/>
          <p:cNvSpPr/>
          <p:nvPr/>
        </p:nvSpPr>
        <p:spPr>
          <a:xfrm>
            <a:off x="1217342" y="1116540"/>
            <a:ext cx="3562177" cy="252456"/>
          </a:xfrm>
          <a:prstGeom prst="rect">
            <a:avLst/>
          </a:prstGeom>
          <a:solidFill>
            <a:srgbClr val="F0EDE8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17342" y="1377605"/>
            <a:ext cx="3562177" cy="23142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17342" y="1168398"/>
            <a:ext cx="3565140" cy="1793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kern="0" spc="150">
                <a:solidFill>
                  <a:srgbClr val="6030A0"/>
                </a:solidFill>
                <a:latin typeface="Cambria"/>
                <a:ea typeface="Cambria"/>
                <a:cs typeface="Courier New" pitchFamily="34" charset="-120"/>
              </a:rPr>
              <a:t>SUSTAINMENT</a:t>
            </a:r>
            <a:endParaRPr lang="en-US" sz="1050">
              <a:latin typeface="Cambria"/>
              <a:ea typeface="Cambria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827894" y="1116540"/>
            <a:ext cx="3562177" cy="252456"/>
          </a:xfrm>
          <a:prstGeom prst="rect">
            <a:avLst/>
          </a:prstGeom>
          <a:solidFill>
            <a:srgbClr val="F0EDE8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27894" y="1377605"/>
            <a:ext cx="3562177" cy="23142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27894" y="1168398"/>
            <a:ext cx="3565140" cy="1793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kern="0" spc="150">
                <a:solidFill>
                  <a:srgbClr val="0071A4"/>
                </a:solidFill>
                <a:latin typeface="Cambria"/>
                <a:ea typeface="Cambria"/>
                <a:cs typeface="Courier New" pitchFamily="34" charset="-120"/>
              </a:rPr>
              <a:t>AI / ML</a:t>
            </a:r>
            <a:endParaRPr lang="en-US" sz="1050">
              <a:latin typeface="Cambria"/>
              <a:ea typeface="Cambri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438445" y="1116540"/>
            <a:ext cx="3562177" cy="252456"/>
          </a:xfrm>
          <a:prstGeom prst="rect">
            <a:avLst/>
          </a:prstGeom>
          <a:solidFill>
            <a:srgbClr val="F0EDE8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38445" y="1377605"/>
            <a:ext cx="3562177" cy="23142"/>
          </a:xfrm>
          <a:prstGeom prst="rect">
            <a:avLst/>
          </a:prstGeom>
          <a:solidFill>
            <a:srgbClr val="0A7A4A"/>
          </a:solidFill>
          <a:ln w="12700">
            <a:solidFill>
              <a:srgbClr val="0A7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38445" y="1168398"/>
            <a:ext cx="3565140" cy="1793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kern="0" spc="150">
                <a:solidFill>
                  <a:srgbClr val="0A7A4A"/>
                </a:solidFill>
                <a:latin typeface="Cambria"/>
                <a:ea typeface="Cambria"/>
                <a:cs typeface="Courier New"/>
              </a:rPr>
              <a:t>508 ACCESSIBILITY</a:t>
            </a:r>
            <a:endParaRPr lang="en-US" sz="1050">
              <a:latin typeface="Cambria"/>
              <a:ea typeface="Cambria"/>
              <a:cs typeface="Courier New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1217342" y="1442823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14092" y="1569051"/>
            <a:ext cx="3368677" cy="152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(U//FOUO) work completed this period.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827894" y="1442823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24644" y="1569051"/>
            <a:ext cx="3368677" cy="1522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(U//FOUO) work completed this period.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8438445" y="1442823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35195" y="1569051"/>
            <a:ext cx="3368677" cy="1522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(U//FOUO) work completed this period.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1217342" y="3139888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314092" y="3266116"/>
            <a:ext cx="3368677" cy="153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(U//FOUO) provided this period.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827894" y="3139888"/>
            <a:ext cx="3562177" cy="1654989"/>
          </a:xfrm>
          <a:prstGeom prst="rect">
            <a:avLst/>
          </a:prstGeom>
          <a:solidFill>
            <a:schemeClr val="bg1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438445" y="3139888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535195" y="3266116"/>
            <a:ext cx="3368677" cy="153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Accessibility compliance improvements and remediation work completed this period.</a:t>
            </a:r>
            <a:endParaRPr lang="en-US" sz="1300"/>
          </a:p>
        </p:txBody>
      </p:sp>
      <p:sp>
        <p:nvSpPr>
          <p:cNvPr id="57" name="Shape 54"/>
          <p:cNvSpPr/>
          <p:nvPr/>
        </p:nvSpPr>
        <p:spPr>
          <a:xfrm>
            <a:off x="1217342" y="4836954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4092" y="4963182"/>
            <a:ext cx="3368677" cy="152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Bug fixes, stability patches, and mission support tasks completed this period.</a:t>
            </a:r>
            <a:endParaRPr lang="en-US" sz="1300"/>
          </a:p>
        </p:txBody>
      </p:sp>
      <p:sp>
        <p:nvSpPr>
          <p:cNvPr id="63" name="Shape 60"/>
          <p:cNvSpPr/>
          <p:nvPr/>
        </p:nvSpPr>
        <p:spPr>
          <a:xfrm>
            <a:off x="4827894" y="4836954"/>
            <a:ext cx="3562177" cy="1654989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924644" y="4963182"/>
            <a:ext cx="3368677" cy="153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(U//FOUO) Post-processor integration work supporting the AI/ML pipeline completed this period.</a:t>
            </a:r>
            <a:endParaRPr lang="en-US" sz="1300"/>
          </a:p>
        </p:txBody>
      </p:sp>
      <p:sp>
        <p:nvSpPr>
          <p:cNvPr id="65" name="Shape 62"/>
          <p:cNvSpPr/>
          <p:nvPr/>
        </p:nvSpPr>
        <p:spPr>
          <a:xfrm>
            <a:off x="8438445" y="4836954"/>
            <a:ext cx="3562177" cy="1654989"/>
          </a:xfrm>
          <a:prstGeom prst="rect">
            <a:avLst/>
          </a:prstGeom>
          <a:noFill/>
          <a:ln w="12700">
            <a:solidFill>
              <a:srgbClr val="D4CFC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462632" y="4836954"/>
            <a:ext cx="3513802" cy="1654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i="1">
                <a:solidFill>
                  <a:srgbClr val="5A6070"/>
                </a:solidFill>
                <a:latin typeface="Calibri"/>
                <a:ea typeface="Calibri"/>
                <a:cs typeface="Calibri"/>
              </a:rPr>
              <a:t>N/A — No user interface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69" name="Text 29">
            <a:extLst>
              <a:ext uri="{FF2B5EF4-FFF2-40B4-BE49-F238E27FC236}">
                <a16:creationId xmlns:a16="http://schemas.microsoft.com/office/drawing/2014/main" id="{B37EDB36-6AF6-B189-3349-4788C7B1DD2F}"/>
              </a:ext>
            </a:extLst>
          </p:cNvPr>
          <p:cNvSpPr/>
          <p:nvPr/>
        </p:nvSpPr>
        <p:spPr>
          <a:xfrm>
            <a:off x="4924643" y="3262384"/>
            <a:ext cx="3368677" cy="1522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1A1E28"/>
                </a:solidFill>
                <a:latin typeface="Calibri"/>
                <a:ea typeface="Calibri"/>
                <a:cs typeface="Calibri"/>
              </a:rPr>
              <a:t>(U//FOUO) work completed this period.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er 3 Divider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6" name="Shape dark"/>
          <p:cNvSpPr/>
          <p:nvPr/>
        </p:nvSpPr>
        <p:spPr>
          <a:xfrm>
            <a:off x="0" y="201168"/>
            <a:ext cx="3474720" cy="6455664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accent"/>
          <p:cNvSpPr/>
          <p:nvPr/>
        </p:nvSpPr>
        <p:spPr>
          <a:xfrm>
            <a:off x="0" y="201168"/>
            <a:ext cx="64008" cy="6455664"/>
          </a:xfrm>
          <a:prstGeom prst="rect">
            <a:avLst/>
          </a:prstGeom>
          <a:solidFill>
            <a:srgbClr val="C23B6E"/>
          </a:solidFill>
          <a:ln w="12700">
            <a:solidFill>
              <a:srgbClr val="C23B6E"/>
            </a:solidFill>
            <a:prstDash val="solid"/>
          </a:ln>
        </p:spPr>
      </p:sp>
      <p:sp>
        <p:nvSpPr>
          <p:cNvPr id="8" name="Text ghost"/>
          <p:cNvSpPr/>
          <p:nvPr/>
        </p:nvSpPr>
        <p:spPr>
          <a:xfrm>
            <a:off x="164592" y="384048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>
                <a:solidFill>
                  <a:srgbClr val="FFFFFF">
                    <a:alpha val="8000"/>
                  </a:srgbClr>
                </a:solidFill>
                <a:latin typeface="Calibri"/>
              </a:rPr>
              <a:t>T3</a:t>
            </a:r>
          </a:p>
        </p:txBody>
      </p:sp>
      <p:sp>
        <p:nvSpPr>
          <p:cNvPr id="9" name="Text tierlabel"/>
          <p:cNvSpPr/>
          <p:nvPr/>
        </p:nvSpPr>
        <p:spPr>
          <a:xfrm>
            <a:off x="164592" y="70408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C23B6E"/>
                </a:solidFill>
                <a:latin typeface="Calibri"/>
              </a:rPr>
              <a:t>T3</a:t>
            </a:r>
          </a:p>
        </p:txBody>
      </p:sp>
      <p:sp>
        <p:nvSpPr>
          <p:cNvPr id="10" name="Text subtitle"/>
          <p:cNvSpPr/>
          <p:nvPr/>
        </p:nvSpPr>
        <p:spPr>
          <a:xfrm>
            <a:off x="164592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kern="0" spc="200">
                <a:solidFill>
                  <a:srgbClr val="8899BB"/>
                </a:solidFill>
                <a:latin typeface="Calibri"/>
              </a:rPr>
              <a:t>EMERGING INITIATIVES</a:t>
            </a: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016752"/>
            <a:ext cx="457200" cy="457200"/>
          </a:xfrm>
          <a:prstGeom prst="rect">
            <a:avLst/>
          </a:prstGeom>
        </p:spPr>
      </p:pic>
      <p:sp>
        <p:nvSpPr>
          <p:cNvPr id="13" name="Text tierheading"/>
          <p:cNvSpPr/>
          <p:nvPr/>
        </p:nvSpPr>
        <p:spPr>
          <a:xfrm>
            <a:off x="3794760" y="475488"/>
            <a:ext cx="81591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50">
                <a:solidFill>
                  <a:srgbClr val="C23B6E"/>
                </a:solidFill>
                <a:latin typeface="Cambria"/>
                <a:ea typeface="Cambria"/>
              </a:rPr>
              <a:t>TIER 3</a:t>
            </a:r>
          </a:p>
        </p:txBody>
      </p:sp>
      <p:sp>
        <p:nvSpPr>
          <p:cNvPr id="14" name="Shape tierline"/>
          <p:cNvSpPr/>
          <p:nvPr/>
        </p:nvSpPr>
        <p:spPr>
          <a:xfrm>
            <a:off x="3794760" y="694944"/>
            <a:ext cx="8159191" cy="20117"/>
          </a:xfrm>
          <a:prstGeom prst="rect">
            <a:avLst/>
          </a:prstGeom>
          <a:solidFill>
            <a:srgbClr val="C23B6E"/>
          </a:solidFill>
          <a:ln w="12700">
            <a:solidFill>
              <a:srgbClr val="C23B6E"/>
            </a:solidFill>
            <a:prstDash val="solid"/>
          </a:ln>
        </p:spPr>
      </p:sp>
      <p:sp>
        <p:nvSpPr>
          <p:cNvPr id="15" name="Shape bar0"/>
          <p:cNvSpPr/>
          <p:nvPr/>
        </p:nvSpPr>
        <p:spPr>
          <a:xfrm>
            <a:off x="3794760" y="822960"/>
            <a:ext cx="22860" cy="377190"/>
          </a:xfrm>
          <a:prstGeom prst="rect">
            <a:avLst/>
          </a:prstGeom>
          <a:solidFill>
            <a:srgbClr val="C23B6E"/>
          </a:solidFill>
          <a:ln w="12700">
            <a:solidFill>
              <a:srgbClr val="C23B6E"/>
            </a:solidFill>
            <a:prstDash val="solid"/>
          </a:ln>
        </p:spPr>
      </p:sp>
      <p:sp>
        <p:nvSpPr>
          <p:cNvPr id="16" name="Text item0"/>
          <p:cNvSpPr/>
          <p:nvPr/>
        </p:nvSpPr>
        <p:spPr>
          <a:xfrm>
            <a:off x="3871059" y="822960"/>
            <a:ext cx="4577298" cy="37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/>
              </a:rPr>
              <a:t>TechSIGINT Revitalization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(U) Tier 3 – TechSIGINT Revitalization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C23B6E"/>
          </a:solidFill>
          <a:ln w="12700">
            <a:solidFill>
              <a:srgbClr val="C23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</a:rPr>
              <a:t>(U//FOUO) Tier 3 – TechSIGINT Revitalization</a:t>
            </a: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C23B6E"/>
          </a:solidFill>
          <a:ln w="12700">
            <a:solidFill>
              <a:srgbClr val="C23B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0" name="Shape nfpanel"/>
          <p:cNvSpPr/>
          <p:nvPr/>
        </p:nvSpPr>
        <p:spPr>
          <a:xfrm>
            <a:off x="9753356" y="996696"/>
            <a:ext cx="2438339" cy="5660136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21" name="Shape nfaccent"/>
          <p:cNvSpPr/>
          <p:nvPr/>
        </p:nvSpPr>
        <p:spPr>
          <a:xfrm>
            <a:off x="9753356" y="996696"/>
            <a:ext cx="54864" cy="566013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2" name="Text nflabel"/>
          <p:cNvSpPr/>
          <p:nvPr/>
        </p:nvSpPr>
        <p:spPr>
          <a:xfrm>
            <a:off x="9899660" y="1179576"/>
            <a:ext cx="2218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F5A800"/>
                </a:solidFill>
                <a:latin typeface="Cambria"/>
                <a:ea typeface="Cambria"/>
              </a:rPr>
              <a:t>NEAR-FUTURE</a:t>
            </a:r>
          </a:p>
        </p:txBody>
      </p:sp>
      <p:sp>
        <p:nvSpPr>
          <p:cNvPr id="23" name="Text nftasks"/>
          <p:cNvSpPr/>
          <p:nvPr/>
        </p:nvSpPr>
        <p:spPr>
          <a:xfrm>
            <a:off x="9899660" y="1435608"/>
            <a:ext cx="22188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>
                <a:solidFill>
                  <a:srgbClr val="FFFFFF"/>
                </a:solidFill>
                <a:latin typeface="Calibri" pitchFamily="34" charset="0"/>
              </a:rPr>
              <a:t>TASKS</a:t>
            </a:r>
          </a:p>
        </p:txBody>
      </p:sp>
      <p:sp>
        <p:nvSpPr>
          <p:cNvPr id="122" name="Shape divider"/>
          <p:cNvSpPr/>
          <p:nvPr/>
        </p:nvSpPr>
        <p:spPr>
          <a:xfrm>
            <a:off x="9899660" y="1947672"/>
            <a:ext cx="2164019" cy="22860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4" name="Shape dot0"/>
          <p:cNvSpPr/>
          <p:nvPr/>
        </p:nvSpPr>
        <p:spPr>
          <a:xfrm>
            <a:off x="9899660" y="2167128"/>
            <a:ext cx="41911" cy="51435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5" name="Text task0"/>
          <p:cNvSpPr/>
          <p:nvPr/>
        </p:nvSpPr>
        <p:spPr>
          <a:xfrm>
            <a:off x="9998339" y="2093976"/>
            <a:ext cx="2083628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D8DCE8"/>
                </a:solidFill>
                <a:latin typeface="Calibri" pitchFamily="34" charset="0"/>
              </a:rPr>
              <a:t>(U//FOUO) [Near-future task]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9AC5444-918D-9347-0A12-8545E697F3C3}"/>
              </a:ext>
            </a:extLst>
          </p:cNvPr>
          <p:cNvGrpSpPr/>
          <p:nvPr/>
        </p:nvGrpSpPr>
        <p:grpSpPr>
          <a:xfrm>
            <a:off x="327703" y="1433300"/>
            <a:ext cx="9176216" cy="4748127"/>
            <a:chOff x="327703" y="1433300"/>
            <a:chExt cx="9176216" cy="4748127"/>
          </a:xfrm>
        </p:grpSpPr>
        <p:sp>
          <p:nvSpPr>
            <p:cNvPr id="18" name="Shape 18">
              <a:extLst>
                <a:ext uri="{FF2B5EF4-FFF2-40B4-BE49-F238E27FC236}">
                  <a16:creationId xmlns:a16="http://schemas.microsoft.com/office/drawing/2014/main" id="{8B3B67E1-5F85-0D0D-414C-772728AF2111}"/>
                </a:ext>
              </a:extLst>
            </p:cNvPr>
            <p:cNvSpPr/>
            <p:nvPr/>
          </p:nvSpPr>
          <p:spPr>
            <a:xfrm>
              <a:off x="327703" y="1433300"/>
              <a:ext cx="919341" cy="227792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71A4"/>
              </a:solidFill>
              <a:prstDash val="solid"/>
            </a:ln>
          </p:spPr>
        </p:sp>
        <p:sp>
          <p:nvSpPr>
            <p:cNvPr id="19" name="Shape 19">
              <a:extLst>
                <a:ext uri="{FF2B5EF4-FFF2-40B4-BE49-F238E27FC236}">
                  <a16:creationId xmlns:a16="http://schemas.microsoft.com/office/drawing/2014/main" id="{D6B7BC7B-50FF-BCBF-E0E2-9AFF29C4143B}"/>
                </a:ext>
              </a:extLst>
            </p:cNvPr>
            <p:cNvSpPr/>
            <p:nvPr/>
          </p:nvSpPr>
          <p:spPr>
            <a:xfrm>
              <a:off x="327703" y="1442824"/>
              <a:ext cx="45967" cy="2277922"/>
            </a:xfrm>
            <a:prstGeom prst="rect">
              <a:avLst/>
            </a:prstGeom>
            <a:solidFill>
              <a:srgbClr val="0071A4"/>
            </a:solidFill>
            <a:ln w="12700">
              <a:solidFill>
                <a:srgbClr val="0071A4"/>
              </a:solidFill>
              <a:prstDash val="solid"/>
            </a:ln>
          </p:spPr>
        </p:sp>
        <p:sp>
          <p:nvSpPr>
            <p:cNvPr id="26" name="Text 20">
              <a:extLst>
                <a:ext uri="{FF2B5EF4-FFF2-40B4-BE49-F238E27FC236}">
                  <a16:creationId xmlns:a16="http://schemas.microsoft.com/office/drawing/2014/main" id="{1CBF1CAD-765A-1B10-B7DE-33F449B5F7D8}"/>
                </a:ext>
              </a:extLst>
            </p:cNvPr>
            <p:cNvSpPr/>
            <p:nvPr/>
          </p:nvSpPr>
          <p:spPr>
            <a:xfrm>
              <a:off x="327703" y="1442824"/>
              <a:ext cx="919341" cy="12528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071A4"/>
                  </a:solidFill>
                  <a:latin typeface="Cambria"/>
                  <a:ea typeface="Cambria"/>
                  <a:cs typeface="Calibri" pitchFamily="34" charset="-120"/>
                </a:rPr>
                <a:t>DX</a:t>
              </a:r>
              <a:endParaRPr lang="en-US" sz="2200">
                <a:latin typeface="Cambria"/>
                <a:ea typeface="Cambria"/>
              </a:endParaRPr>
            </a:p>
          </p:txBody>
        </p:sp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CEE912C3-D6A4-2D4A-44DF-19173222041B}"/>
                </a:ext>
              </a:extLst>
            </p:cNvPr>
            <p:cNvSpPr/>
            <p:nvPr/>
          </p:nvSpPr>
          <p:spPr>
            <a:xfrm>
              <a:off x="373670" y="2741240"/>
              <a:ext cx="845793" cy="865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>
                  <a:solidFill>
                    <a:srgbClr val="0071A4"/>
                  </a:solidFill>
                  <a:latin typeface="Calibri"/>
                  <a:ea typeface="Calibri"/>
                  <a:cs typeface="Calibri"/>
                </a:rPr>
                <a:t>DataXplorer</a:t>
              </a:r>
              <a:endParaRPr lang="en-US" sz="105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" name="Shape 50">
              <a:extLst>
                <a:ext uri="{FF2B5EF4-FFF2-40B4-BE49-F238E27FC236}">
                  <a16:creationId xmlns:a16="http://schemas.microsoft.com/office/drawing/2014/main" id="{841BA574-95BF-C8A4-0A4D-FC3BFF815CD9}"/>
                </a:ext>
              </a:extLst>
            </p:cNvPr>
            <p:cNvSpPr/>
            <p:nvPr/>
          </p:nvSpPr>
          <p:spPr>
            <a:xfrm>
              <a:off x="327703" y="3893979"/>
              <a:ext cx="917435" cy="2287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6030A0"/>
              </a:solidFill>
              <a:prstDash val="solid"/>
            </a:ln>
          </p:spPr>
        </p:sp>
        <p:sp>
          <p:nvSpPr>
            <p:cNvPr id="29" name="Shape 51">
              <a:extLst>
                <a:ext uri="{FF2B5EF4-FFF2-40B4-BE49-F238E27FC236}">
                  <a16:creationId xmlns:a16="http://schemas.microsoft.com/office/drawing/2014/main" id="{791A93EE-08F0-B571-947F-D5BF96D9E2EA}"/>
                </a:ext>
              </a:extLst>
            </p:cNvPr>
            <p:cNvSpPr/>
            <p:nvPr/>
          </p:nvSpPr>
          <p:spPr>
            <a:xfrm>
              <a:off x="327703" y="3893978"/>
              <a:ext cx="45872" cy="2287448"/>
            </a:xfrm>
            <a:prstGeom prst="rect">
              <a:avLst/>
            </a:prstGeom>
            <a:solidFill>
              <a:srgbClr val="6030A0"/>
            </a:solidFill>
            <a:ln w="12700">
              <a:solidFill>
                <a:srgbClr val="6030A0"/>
              </a:solidFill>
              <a:prstDash val="solid"/>
            </a:ln>
          </p:spPr>
        </p:sp>
        <p:sp>
          <p:nvSpPr>
            <p:cNvPr id="30" name="Text 52">
              <a:extLst>
                <a:ext uri="{FF2B5EF4-FFF2-40B4-BE49-F238E27FC236}">
                  <a16:creationId xmlns:a16="http://schemas.microsoft.com/office/drawing/2014/main" id="{0DCBB685-075A-C607-229A-4C5103B824AD}"/>
                </a:ext>
              </a:extLst>
            </p:cNvPr>
            <p:cNvSpPr/>
            <p:nvPr/>
          </p:nvSpPr>
          <p:spPr>
            <a:xfrm>
              <a:off x="327703" y="3893978"/>
              <a:ext cx="917435" cy="125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6030A0"/>
                  </a:solidFill>
                  <a:latin typeface="Cambria"/>
                  <a:ea typeface="Cambria"/>
                  <a:cs typeface="Calibri" pitchFamily="34" charset="-120"/>
                </a:rPr>
                <a:t>RC</a:t>
              </a:r>
              <a:endParaRPr lang="en-US" sz="2200">
                <a:latin typeface="Cambria"/>
                <a:ea typeface="Cambria"/>
              </a:endParaRPr>
            </a:p>
          </p:txBody>
        </p:sp>
        <p:sp>
          <p:nvSpPr>
            <p:cNvPr id="31" name="Text 53">
              <a:extLst>
                <a:ext uri="{FF2B5EF4-FFF2-40B4-BE49-F238E27FC236}">
                  <a16:creationId xmlns:a16="http://schemas.microsoft.com/office/drawing/2014/main" id="{ACB71D74-01D3-ABC8-5169-274938C1E054}"/>
                </a:ext>
              </a:extLst>
            </p:cNvPr>
            <p:cNvSpPr/>
            <p:nvPr/>
          </p:nvSpPr>
          <p:spPr>
            <a:xfrm>
              <a:off x="373575" y="5197824"/>
              <a:ext cx="844040" cy="8692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>
                  <a:solidFill>
                    <a:srgbClr val="6030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Rollercoaster</a:t>
              </a:r>
              <a:endParaRPr lang="en-US" sz="105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BB3E1A1-7F5C-43FC-F8CC-327BF89BAAFD}"/>
                </a:ext>
              </a:extLst>
            </p:cNvPr>
            <p:cNvGrpSpPr/>
            <p:nvPr/>
          </p:nvGrpSpPr>
          <p:grpSpPr>
            <a:xfrm>
              <a:off x="1358077" y="1433300"/>
              <a:ext cx="8145842" cy="4738600"/>
              <a:chOff x="1358077" y="1423775"/>
              <a:chExt cx="3564317" cy="4757651"/>
            </a:xfrm>
          </p:grpSpPr>
          <p:sp>
            <p:nvSpPr>
              <p:cNvPr id="33" name="Shape 22">
                <a:extLst>
                  <a:ext uri="{FF2B5EF4-FFF2-40B4-BE49-F238E27FC236}">
                    <a16:creationId xmlns:a16="http://schemas.microsoft.com/office/drawing/2014/main" id="{5FB05A16-EBF0-62D2-A3DD-C59C70B6D5C6}"/>
                  </a:ext>
                </a:extLst>
              </p:cNvPr>
              <p:cNvSpPr/>
              <p:nvPr/>
            </p:nvSpPr>
            <p:spPr>
              <a:xfrm>
                <a:off x="1360217" y="1423775"/>
                <a:ext cx="3562177" cy="227792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71A4"/>
                </a:solidFill>
                <a:prstDash val="solid"/>
              </a:ln>
            </p:spPr>
          </p:sp>
          <p:sp>
            <p:nvSpPr>
              <p:cNvPr id="34" name="Text 23">
                <a:extLst>
                  <a:ext uri="{FF2B5EF4-FFF2-40B4-BE49-F238E27FC236}">
                    <a16:creationId xmlns:a16="http://schemas.microsoft.com/office/drawing/2014/main" id="{FA49965F-4F4A-40FE-997E-400BE7BEF190}"/>
                  </a:ext>
                </a:extLst>
              </p:cNvPr>
              <p:cNvSpPr/>
              <p:nvPr/>
            </p:nvSpPr>
            <p:spPr>
              <a:xfrm>
                <a:off x="1456967" y="1616564"/>
                <a:ext cx="3368677" cy="20962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1A1E28"/>
                    </a:solidFill>
                    <a:latin typeface="Calibri"/>
                    <a:ea typeface="Calibri"/>
                    <a:cs typeface="Calibri"/>
                  </a:rPr>
                  <a:t>(U//FOUO) work completed this period.</a:t>
                </a:r>
                <a:endParaRPr lang="en-US" sz="1300"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35" name="Shape 54">
                <a:extLst>
                  <a:ext uri="{FF2B5EF4-FFF2-40B4-BE49-F238E27FC236}">
                    <a16:creationId xmlns:a16="http://schemas.microsoft.com/office/drawing/2014/main" id="{B4366CB7-4401-C919-27A4-0659930BC7DA}"/>
                  </a:ext>
                </a:extLst>
              </p:cNvPr>
              <p:cNvSpPr/>
              <p:nvPr/>
            </p:nvSpPr>
            <p:spPr>
              <a:xfrm>
                <a:off x="1358077" y="3893978"/>
                <a:ext cx="3554792" cy="228744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6030A0"/>
                </a:solidFill>
                <a:prstDash val="solid"/>
              </a:ln>
            </p:spPr>
          </p:sp>
          <p:sp>
            <p:nvSpPr>
              <p:cNvPr id="36" name="Text 55">
                <a:extLst>
                  <a:ext uri="{FF2B5EF4-FFF2-40B4-BE49-F238E27FC236}">
                    <a16:creationId xmlns:a16="http://schemas.microsoft.com/office/drawing/2014/main" id="{CA0ED402-B814-1C9A-3A67-15D6D19BE5F3}"/>
                  </a:ext>
                </a:extLst>
              </p:cNvPr>
              <p:cNvSpPr/>
              <p:nvPr/>
            </p:nvSpPr>
            <p:spPr>
              <a:xfrm>
                <a:off x="1454626" y="4068444"/>
                <a:ext cx="3361694" cy="21092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1A1E2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(U//FOUO) Bug fixes, stability patches, and mission support tasks completed this period.</a:t>
                </a:r>
                <a:endParaRPr lang="en-US" sz="1300"/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 Divider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6" name="Shape dark"/>
          <p:cNvSpPr/>
          <p:nvPr/>
        </p:nvSpPr>
        <p:spPr>
          <a:xfrm>
            <a:off x="0" y="201168"/>
            <a:ext cx="3474720" cy="6455664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accent"/>
          <p:cNvSpPr/>
          <p:nvPr/>
        </p:nvSpPr>
        <p:spPr>
          <a:xfrm>
            <a:off x="0" y="201168"/>
            <a:ext cx="64008" cy="64556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Text ghost"/>
          <p:cNvSpPr/>
          <p:nvPr/>
        </p:nvSpPr>
        <p:spPr>
          <a:xfrm>
            <a:off x="164592" y="384048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>
                <a:solidFill>
                  <a:srgbClr val="FFFFFF">
                    <a:alpha val="8000"/>
                  </a:srgbClr>
                </a:solidFill>
                <a:latin typeface="Calibri"/>
              </a:rPr>
              <a:t>CL</a:t>
            </a:r>
          </a:p>
        </p:txBody>
      </p:sp>
      <p:sp>
        <p:nvSpPr>
          <p:cNvPr id="9" name="Text tierlabel"/>
          <p:cNvSpPr/>
          <p:nvPr/>
        </p:nvSpPr>
        <p:spPr>
          <a:xfrm>
            <a:off x="164592" y="70408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B8860B"/>
                </a:solidFill>
                <a:latin typeface="Calibri"/>
              </a:rPr>
              <a:t>CL</a:t>
            </a:r>
          </a:p>
        </p:txBody>
      </p:sp>
      <p:sp>
        <p:nvSpPr>
          <p:cNvPr id="10" name="Text subtitle"/>
          <p:cNvSpPr/>
          <p:nvPr/>
        </p:nvSpPr>
        <p:spPr>
          <a:xfrm>
            <a:off x="164592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kern="0" spc="200">
                <a:solidFill>
                  <a:srgbClr val="8899BB"/>
                </a:solidFill>
                <a:latin typeface="Calibri"/>
              </a:rPr>
              <a:t>PROGRAM SUMMARY</a:t>
            </a: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016752"/>
            <a:ext cx="457200" cy="457200"/>
          </a:xfrm>
          <a:prstGeom prst="rect">
            <a:avLst/>
          </a:prstGeom>
        </p:spPr>
      </p:pic>
      <p:sp>
        <p:nvSpPr>
          <p:cNvPr id="13" name="Text tierheading"/>
          <p:cNvSpPr/>
          <p:nvPr/>
        </p:nvSpPr>
        <p:spPr>
          <a:xfrm>
            <a:off x="3794760" y="475488"/>
            <a:ext cx="81591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50">
                <a:solidFill>
                  <a:srgbClr val="B8860B"/>
                </a:solidFill>
                <a:latin typeface="Cambria"/>
                <a:ea typeface="Cambria"/>
              </a:rPr>
              <a:t>CLOSING</a:t>
            </a:r>
          </a:p>
        </p:txBody>
      </p:sp>
      <p:sp>
        <p:nvSpPr>
          <p:cNvPr id="14" name="Shape tierline"/>
          <p:cNvSpPr/>
          <p:nvPr/>
        </p:nvSpPr>
        <p:spPr>
          <a:xfrm>
            <a:off x="3794760" y="694944"/>
            <a:ext cx="8159191" cy="20117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Shape bar0"/>
          <p:cNvSpPr/>
          <p:nvPr/>
        </p:nvSpPr>
        <p:spPr>
          <a:xfrm>
            <a:off x="3794760" y="822960"/>
            <a:ext cx="22860" cy="37719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item0"/>
          <p:cNvSpPr/>
          <p:nvPr/>
        </p:nvSpPr>
        <p:spPr>
          <a:xfrm>
            <a:off x="3871059" y="822960"/>
            <a:ext cx="4577298" cy="37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/>
              </a:rPr>
              <a:t>Risk / Issue Matrix</a:t>
            </a:r>
          </a:p>
        </p:txBody>
      </p:sp>
      <p:sp>
        <p:nvSpPr>
          <p:cNvPr id="17" name="Shape bar1"/>
          <p:cNvSpPr/>
          <p:nvPr/>
        </p:nvSpPr>
        <p:spPr>
          <a:xfrm>
            <a:off x="3794760" y="1454397"/>
            <a:ext cx="22860" cy="37719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item1"/>
          <p:cNvSpPr/>
          <p:nvPr/>
        </p:nvSpPr>
        <p:spPr>
          <a:xfrm>
            <a:off x="3871059" y="1454397"/>
            <a:ext cx="4577298" cy="37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/>
              </a:rPr>
              <a:t>Certifications &amp; Accreditations</a:t>
            </a:r>
          </a:p>
        </p:txBody>
      </p:sp>
      <p:sp>
        <p:nvSpPr>
          <p:cNvPr id="19" name="Shape bar2"/>
          <p:cNvSpPr/>
          <p:nvPr/>
        </p:nvSpPr>
        <p:spPr>
          <a:xfrm>
            <a:off x="3794760" y="2085834"/>
            <a:ext cx="22860" cy="37719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item2"/>
          <p:cNvSpPr/>
          <p:nvPr/>
        </p:nvSpPr>
        <p:spPr>
          <a:xfrm>
            <a:off x="3871059" y="2085834"/>
            <a:ext cx="4577298" cy="37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2736"/>
                </a:solidFill>
                <a:latin typeface="Calibri"/>
              </a:rPr>
              <a:t>Staffing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(U//FOUO) Risk / Issue Matrix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</a:rPr>
              <a:t>(U//FOUO) Risk / Issue Matrix</a:t>
            </a: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Shape cell12"/>
          <p:cNvSpPr/>
          <p:nvPr/>
        </p:nvSpPr>
        <p:spPr>
          <a:xfrm>
            <a:off x="237744" y="1200000"/>
            <a:ext cx="2800000" cy="1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acccell12"/>
          <p:cNvSpPr/>
          <p:nvPr/>
        </p:nvSpPr>
        <p:spPr>
          <a:xfrm>
            <a:off x="237744" y="1200000"/>
            <a:ext cx="64008" cy="1280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celllabel12"/>
          <p:cNvSpPr/>
          <p:nvPr/>
        </p:nvSpPr>
        <p:spPr>
          <a:xfrm>
            <a:off x="337744" y="128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C0392B"/>
                </a:solidFill>
                <a:latin typeface="Courier New"/>
              </a:rPr>
              <a:t>RISK-01 [HIGH]</a:t>
            </a:r>
          </a:p>
        </p:txBody>
      </p:sp>
      <p:sp>
        <p:nvSpPr>
          <p:cNvPr id="15" name="Text cellbody12"/>
          <p:cNvSpPr/>
          <p:nvPr/>
        </p:nvSpPr>
        <p:spPr>
          <a:xfrm>
            <a:off x="337744" y="1580000"/>
            <a:ext cx="264000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[Describe risk — cause, potential impact, and current mitigation status.]</a:t>
            </a:r>
          </a:p>
        </p:txBody>
      </p:sp>
      <p:sp>
        <p:nvSpPr>
          <p:cNvPr id="16" name="Shape cell16"/>
          <p:cNvSpPr/>
          <p:nvPr/>
        </p:nvSpPr>
        <p:spPr>
          <a:xfrm>
            <a:off x="3157744" y="1200000"/>
            <a:ext cx="2800000" cy="1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Shape acccell16"/>
          <p:cNvSpPr/>
          <p:nvPr/>
        </p:nvSpPr>
        <p:spPr>
          <a:xfrm>
            <a:off x="3157744" y="1200000"/>
            <a:ext cx="64008" cy="1280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celllabel16"/>
          <p:cNvSpPr/>
          <p:nvPr/>
        </p:nvSpPr>
        <p:spPr>
          <a:xfrm>
            <a:off x="3257744" y="128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E67E22"/>
                </a:solidFill>
                <a:latin typeface="Courier New"/>
              </a:rPr>
              <a:t>RISK-02 [MED]</a:t>
            </a:r>
          </a:p>
        </p:txBody>
      </p:sp>
      <p:sp>
        <p:nvSpPr>
          <p:cNvPr id="19" name="Text cellbody16"/>
          <p:cNvSpPr/>
          <p:nvPr/>
        </p:nvSpPr>
        <p:spPr>
          <a:xfrm>
            <a:off x="3257744" y="1580000"/>
            <a:ext cx="264000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[Describe risk — cause, potential impact, and current mitigation status.]</a:t>
            </a:r>
          </a:p>
        </p:txBody>
      </p:sp>
      <p:sp>
        <p:nvSpPr>
          <p:cNvPr id="20" name="Shape cell20"/>
          <p:cNvSpPr/>
          <p:nvPr/>
        </p:nvSpPr>
        <p:spPr>
          <a:xfrm>
            <a:off x="6077744" y="1200000"/>
            <a:ext cx="2800000" cy="1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Shape acccell20"/>
          <p:cNvSpPr/>
          <p:nvPr/>
        </p:nvSpPr>
        <p:spPr>
          <a:xfrm>
            <a:off x="6077744" y="1200000"/>
            <a:ext cx="64008" cy="1280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celllabel20"/>
          <p:cNvSpPr/>
          <p:nvPr/>
        </p:nvSpPr>
        <p:spPr>
          <a:xfrm>
            <a:off x="6177744" y="128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27AE60"/>
                </a:solidFill>
                <a:latin typeface="Courier New"/>
              </a:rPr>
              <a:t>RISK-03 [LOW]</a:t>
            </a:r>
          </a:p>
        </p:txBody>
      </p:sp>
      <p:sp>
        <p:nvSpPr>
          <p:cNvPr id="23" name="Text cellbody20"/>
          <p:cNvSpPr/>
          <p:nvPr/>
        </p:nvSpPr>
        <p:spPr>
          <a:xfrm>
            <a:off x="6177744" y="1580000"/>
            <a:ext cx="264000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[Describe risk — cause, potential impact, and current mitigation status.]</a:t>
            </a:r>
          </a:p>
        </p:txBody>
      </p:sp>
      <p:sp>
        <p:nvSpPr>
          <p:cNvPr id="24" name="Shape cell24"/>
          <p:cNvSpPr/>
          <p:nvPr/>
        </p:nvSpPr>
        <p:spPr>
          <a:xfrm>
            <a:off x="237744" y="2580000"/>
            <a:ext cx="2800000" cy="1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acccell24"/>
          <p:cNvSpPr/>
          <p:nvPr/>
        </p:nvSpPr>
        <p:spPr>
          <a:xfrm>
            <a:off x="237744" y="2580000"/>
            <a:ext cx="64008" cy="1280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celllabel24"/>
          <p:cNvSpPr/>
          <p:nvPr/>
        </p:nvSpPr>
        <p:spPr>
          <a:xfrm>
            <a:off x="337744" y="266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C0392B"/>
                </a:solidFill>
                <a:latin typeface="Courier New"/>
              </a:rPr>
              <a:t>ISSUE-01 [OPEN]</a:t>
            </a:r>
          </a:p>
        </p:txBody>
      </p:sp>
      <p:sp>
        <p:nvSpPr>
          <p:cNvPr id="27" name="Text cellbody24"/>
          <p:cNvSpPr/>
          <p:nvPr/>
        </p:nvSpPr>
        <p:spPr>
          <a:xfrm>
            <a:off x="337744" y="2960000"/>
            <a:ext cx="264000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[Describe open issue — root cause, current status, and owner/resolution path.]</a:t>
            </a:r>
          </a:p>
        </p:txBody>
      </p:sp>
      <p:sp>
        <p:nvSpPr>
          <p:cNvPr id="28" name="Shape cell28"/>
          <p:cNvSpPr/>
          <p:nvPr/>
        </p:nvSpPr>
        <p:spPr>
          <a:xfrm>
            <a:off x="3157744" y="2580000"/>
            <a:ext cx="2800000" cy="1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Shape acccell28"/>
          <p:cNvSpPr/>
          <p:nvPr/>
        </p:nvSpPr>
        <p:spPr>
          <a:xfrm>
            <a:off x="3157744" y="2580000"/>
            <a:ext cx="64008" cy="1280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celllabel28"/>
          <p:cNvSpPr/>
          <p:nvPr/>
        </p:nvSpPr>
        <p:spPr>
          <a:xfrm>
            <a:off x="3257744" y="266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E67E22"/>
                </a:solidFill>
                <a:latin typeface="Courier New"/>
              </a:rPr>
              <a:t>ISSUE-02 [WATCH]</a:t>
            </a:r>
          </a:p>
        </p:txBody>
      </p:sp>
      <p:sp>
        <p:nvSpPr>
          <p:cNvPr id="31" name="Text cellbody28"/>
          <p:cNvSpPr/>
          <p:nvPr/>
        </p:nvSpPr>
        <p:spPr>
          <a:xfrm>
            <a:off x="3257744" y="2960000"/>
            <a:ext cx="264000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[Describe open issue — root cause, current status, and owner/resolution path.]</a:t>
            </a:r>
          </a:p>
        </p:txBody>
      </p:sp>
      <p:sp>
        <p:nvSpPr>
          <p:cNvPr id="32" name="Shape cell32"/>
          <p:cNvSpPr/>
          <p:nvPr/>
        </p:nvSpPr>
        <p:spPr>
          <a:xfrm>
            <a:off x="6077744" y="2580000"/>
            <a:ext cx="2800000" cy="12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Shape acccell32"/>
          <p:cNvSpPr/>
          <p:nvPr/>
        </p:nvSpPr>
        <p:spPr>
          <a:xfrm>
            <a:off x="6077744" y="2580000"/>
            <a:ext cx="64008" cy="1280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celllabel32"/>
          <p:cNvSpPr/>
          <p:nvPr/>
        </p:nvSpPr>
        <p:spPr>
          <a:xfrm>
            <a:off x="6177744" y="266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27AE60"/>
                </a:solidFill>
                <a:latin typeface="Courier New"/>
              </a:rPr>
              <a:t>ISSUE-03 [CLOSED]</a:t>
            </a:r>
          </a:p>
        </p:txBody>
      </p:sp>
      <p:sp>
        <p:nvSpPr>
          <p:cNvPr id="35" name="Text cellbody32"/>
          <p:cNvSpPr/>
          <p:nvPr/>
        </p:nvSpPr>
        <p:spPr>
          <a:xfrm>
            <a:off x="6177744" y="2960000"/>
            <a:ext cx="264000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[Describe resolved or closed issue.]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(U) Certifications &amp; Accreditations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</a:rPr>
              <a:t>(U) Certifications &amp; Accreditations</a:t>
            </a: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(U) Staffing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</a:rPr>
              <a:t>UNCLASSIFIED // FOR OFFICIAL USE ONLY</a:t>
            </a:r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12191695" cy="749808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45720" cy="7498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01168"/>
            <a:ext cx="11185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</a:rPr>
              <a:t>(U) Staffing</a:t>
            </a: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35" y="2743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950976"/>
            <a:ext cx="4267093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093" y="950976"/>
            <a:ext cx="7924602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Shape col12"/>
          <p:cNvSpPr/>
          <p:nvPr/>
        </p:nvSpPr>
        <p:spPr>
          <a:xfrm>
            <a:off x="200000" y="1100000"/>
            <a:ext cx="38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13" name="Shape colacc12"/>
          <p:cNvSpPr/>
          <p:nvPr/>
        </p:nvSpPr>
        <p:spPr>
          <a:xfrm>
            <a:off x="200000" y="1100000"/>
            <a:ext cx="64008" cy="4800000"/>
          </a:xfrm>
          <a:prstGeom prst="rect">
            <a:avLst/>
          </a:prstGeom>
          <a:solidFill>
            <a:srgbClr val="2952A3"/>
          </a:solidFill>
          <a:ln w="12700">
            <a:solidFill>
              <a:srgbClr val="2952A3"/>
            </a:solidFill>
            <a:prstDash val="solid"/>
          </a:ln>
        </p:spPr>
      </p:sp>
      <p:sp>
        <p:nvSpPr>
          <p:cNvPr id="14" name="Text colabbr12"/>
          <p:cNvSpPr/>
          <p:nvPr/>
        </p:nvSpPr>
        <p:spPr>
          <a:xfrm>
            <a:off x="300000" y="1200000"/>
            <a:ext cx="36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2952A3"/>
                </a:solidFill>
                <a:latin typeface="Calibri"/>
              </a:rPr>
              <a:t>DX</a:t>
            </a:r>
          </a:p>
        </p:txBody>
      </p:sp>
      <p:sp>
        <p:nvSpPr>
          <p:cNvPr id="15" name="Text colfull12"/>
          <p:cNvSpPr/>
          <p:nvPr/>
        </p:nvSpPr>
        <p:spPr>
          <a:xfrm>
            <a:off x="300000" y="1780000"/>
            <a:ext cx="3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952A3"/>
                </a:solidFill>
                <a:latin typeface="Calibri"/>
              </a:rPr>
              <a:t>DataXplorer</a:t>
            </a:r>
          </a:p>
        </p:txBody>
      </p:sp>
      <p:sp>
        <p:nvSpPr>
          <p:cNvPr id="16" name="Text colbody12"/>
          <p:cNvSpPr/>
          <p:nvPr/>
        </p:nvSpPr>
        <p:spPr>
          <a:xfrm>
            <a:off x="300000" y="2150000"/>
            <a:ext cx="3600000" cy="3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[Role / Name] — [Title]</a:t>
            </a:r>
          </a:p>
          <a:p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[Role / Name] — [Title]</a:t>
            </a:r>
          </a:p>
          <a:p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[Certifications held or pending]</a:t>
            </a:r>
          </a:p>
          <a:p>
            <a:endParaRPr lang="en-US" sz="1100"/>
          </a:p>
        </p:txBody>
      </p:sp>
      <p:sp>
        <p:nvSpPr>
          <p:cNvPr id="17" name="Shape col17"/>
          <p:cNvSpPr/>
          <p:nvPr/>
        </p:nvSpPr>
        <p:spPr>
          <a:xfrm>
            <a:off x="4150000" y="1100000"/>
            <a:ext cx="38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8" name="Shape colacc17"/>
          <p:cNvSpPr/>
          <p:nvPr/>
        </p:nvSpPr>
        <p:spPr>
          <a:xfrm>
            <a:off x="4150000" y="1100000"/>
            <a:ext cx="64008" cy="480000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9" name="Text colabbr17"/>
          <p:cNvSpPr/>
          <p:nvPr/>
        </p:nvSpPr>
        <p:spPr>
          <a:xfrm>
            <a:off x="4250000" y="1200000"/>
            <a:ext cx="36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071A4"/>
                </a:solidFill>
                <a:latin typeface="Calibri"/>
              </a:rPr>
              <a:t>LX</a:t>
            </a:r>
          </a:p>
        </p:txBody>
      </p:sp>
      <p:sp>
        <p:nvSpPr>
          <p:cNvPr id="20" name="Text colfull17"/>
          <p:cNvSpPr/>
          <p:nvPr/>
        </p:nvSpPr>
        <p:spPr>
          <a:xfrm>
            <a:off x="4250000" y="1780000"/>
            <a:ext cx="3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71A4"/>
                </a:solidFill>
                <a:latin typeface="Calibri"/>
              </a:rPr>
              <a:t>LinkXplorer</a:t>
            </a:r>
          </a:p>
        </p:txBody>
      </p:sp>
      <p:sp>
        <p:nvSpPr>
          <p:cNvPr id="21" name="Text colbody17"/>
          <p:cNvSpPr/>
          <p:nvPr/>
        </p:nvSpPr>
        <p:spPr>
          <a:xfrm>
            <a:off x="4250000" y="2150000"/>
            <a:ext cx="3600000" cy="3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[Role / Name] — [Title]</a:t>
            </a:r>
          </a:p>
          <a:p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[Role / Name] — [Title]</a:t>
            </a:r>
          </a:p>
          <a:p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[Certifications held or pending]</a:t>
            </a:r>
          </a:p>
          <a:p>
            <a:endParaRPr lang="en-US" sz="1100"/>
          </a:p>
        </p:txBody>
      </p:sp>
      <p:sp>
        <p:nvSpPr>
          <p:cNvPr id="22" name="Shape col22"/>
          <p:cNvSpPr/>
          <p:nvPr/>
        </p:nvSpPr>
        <p:spPr>
          <a:xfrm>
            <a:off x="8100000" y="1100000"/>
            <a:ext cx="38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23" name="Shape colacc22"/>
          <p:cNvSpPr/>
          <p:nvPr/>
        </p:nvSpPr>
        <p:spPr>
          <a:xfrm>
            <a:off x="8100000" y="1100000"/>
            <a:ext cx="64008" cy="4800000"/>
          </a:xfrm>
          <a:prstGeom prst="rect">
            <a:avLst/>
          </a:prstGeom>
          <a:solidFill>
            <a:srgbClr val="6030A0"/>
          </a:solidFill>
          <a:ln w="12700">
            <a:solidFill>
              <a:srgbClr val="6030A0"/>
            </a:solidFill>
            <a:prstDash val="solid"/>
          </a:ln>
        </p:spPr>
      </p:sp>
      <p:sp>
        <p:nvSpPr>
          <p:cNvPr id="24" name="Text colabbr22"/>
          <p:cNvSpPr/>
          <p:nvPr/>
        </p:nvSpPr>
        <p:spPr>
          <a:xfrm>
            <a:off x="8200000" y="1200000"/>
            <a:ext cx="36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6030A0"/>
                </a:solidFill>
                <a:latin typeface="Calibri"/>
              </a:rPr>
              <a:t>RC</a:t>
            </a:r>
          </a:p>
        </p:txBody>
      </p:sp>
      <p:sp>
        <p:nvSpPr>
          <p:cNvPr id="25" name="Text colfull22"/>
          <p:cNvSpPr/>
          <p:nvPr/>
        </p:nvSpPr>
        <p:spPr>
          <a:xfrm>
            <a:off x="8200000" y="1780000"/>
            <a:ext cx="3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030A0"/>
                </a:solidFill>
                <a:latin typeface="Calibri"/>
              </a:rPr>
              <a:t>Rollercoaster</a:t>
            </a:r>
          </a:p>
        </p:txBody>
      </p:sp>
      <p:sp>
        <p:nvSpPr>
          <p:cNvPr id="26" name="Text colbody22"/>
          <p:cNvSpPr/>
          <p:nvPr/>
        </p:nvSpPr>
        <p:spPr>
          <a:xfrm>
            <a:off x="8200000" y="2150000"/>
            <a:ext cx="3600000" cy="3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[Role / Name] — [Title]</a:t>
            </a:r>
          </a:p>
          <a:p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[Role / Name] — [Title]</a:t>
            </a:r>
          </a:p>
          <a:p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A1E28"/>
                </a:solidFill>
                <a:latin typeface="Calibri"/>
              </a:rPr>
              <a:t>(U//FOUO) [Certifications held or pending]</a:t>
            </a:r>
          </a:p>
          <a:p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UNCLASSIFIED // FOR OFFICIAL USE ONLY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0" y="201168"/>
            <a:ext cx="8778021" cy="6455664"/>
          </a:xfrm>
          <a:prstGeom prst="rect">
            <a:avLst/>
          </a:prstGeom>
          <a:solidFill>
            <a:srgbClr val="1E2736"/>
          </a:solidFill>
          <a:ln w="12700">
            <a:solidFill>
              <a:srgbClr val="1E27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"/>
            <a:ext cx="54864" cy="6455664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12648"/>
            <a:ext cx="84122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BAMBOOTIGER</a:t>
            </a:r>
            <a:endParaRPr lang="en-US" sz="5400"/>
          </a:p>
        </p:txBody>
      </p:sp>
      <p:sp>
        <p:nvSpPr>
          <p:cNvPr id="9" name="Text 7"/>
          <p:cNvSpPr/>
          <p:nvPr/>
        </p:nvSpPr>
        <p:spPr>
          <a:xfrm>
            <a:off x="256032" y="1664208"/>
            <a:ext cx="84122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Progress Report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256032" y="2075688"/>
            <a:ext cx="2743200" cy="4572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075688"/>
            <a:ext cx="5577621" cy="45720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28600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79550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continues on track across all Tier 1 products — DX, LX, and RC.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256032" y="2816352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621792" y="2816352"/>
            <a:ext cx="79550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migration standby posture maintained; all teams ready for production cutover.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256032" y="3346704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621792" y="3346704"/>
            <a:ext cx="79550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support SLAs met across sustainment, AI/ML, and 508 accessibility tracks.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256032" y="3877056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00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21792" y="3877056"/>
            <a:ext cx="79550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P1 incidents or unmitigated critical vulnerabilities as of period close.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8778021" y="201168"/>
            <a:ext cx="3413675" cy="6455664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021" y="201168"/>
            <a:ext cx="36576" cy="6455664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0901" y="896112"/>
            <a:ext cx="3102779" cy="20117"/>
          </a:xfrm>
          <a:prstGeom prst="rect">
            <a:avLst/>
          </a:prstGeom>
          <a:solidFill>
            <a:srgbClr val="D4CFC8"/>
          </a:solidFill>
          <a:ln w="12700">
            <a:solidFill>
              <a:srgbClr val="D4CF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0901" y="978408"/>
            <a:ext cx="3102779" cy="594360"/>
          </a:xfrm>
          <a:prstGeom prst="rect">
            <a:avLst/>
          </a:prstGeom>
          <a:solidFill>
            <a:srgbClr val="3A4A62"/>
          </a:solidFill>
          <a:ln w="12700">
            <a:solidFill>
              <a:srgbClr val="4A5A7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0901" y="978408"/>
            <a:ext cx="36576" cy="59436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341" y="978408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D4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372381" y="978408"/>
            <a:ext cx="26455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production cutover go/no-go decision — April 14</a:t>
            </a:r>
            <a:endParaRPr lang="en-US" sz="1300"/>
          </a:p>
        </p:txBody>
      </p:sp>
      <p:sp>
        <p:nvSpPr>
          <p:cNvPr id="28" name="Shape 26"/>
          <p:cNvSpPr/>
          <p:nvPr/>
        </p:nvSpPr>
        <p:spPr>
          <a:xfrm>
            <a:off x="8960901" y="1728216"/>
            <a:ext cx="3102779" cy="594360"/>
          </a:xfrm>
          <a:prstGeom prst="rect">
            <a:avLst/>
          </a:prstGeom>
          <a:solidFill>
            <a:srgbClr val="3A4A62"/>
          </a:solidFill>
          <a:ln w="12700">
            <a:solidFill>
              <a:srgbClr val="4A5A7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0901" y="1728216"/>
            <a:ext cx="36576" cy="59436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341" y="1728216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D4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/>
          </a:p>
        </p:txBody>
      </p:sp>
      <p:sp>
        <p:nvSpPr>
          <p:cNvPr id="31" name="Text 29"/>
          <p:cNvSpPr/>
          <p:nvPr/>
        </p:nvSpPr>
        <p:spPr>
          <a:xfrm>
            <a:off x="9372381" y="1728216"/>
            <a:ext cx="26455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DX4 Results Grid production release</a:t>
            </a:r>
            <a:endParaRPr lang="en-US" sz="1300"/>
          </a:p>
        </p:txBody>
      </p:sp>
      <p:sp>
        <p:nvSpPr>
          <p:cNvPr id="32" name="Shape 30"/>
          <p:cNvSpPr/>
          <p:nvPr/>
        </p:nvSpPr>
        <p:spPr>
          <a:xfrm>
            <a:off x="8960901" y="2478024"/>
            <a:ext cx="3102779" cy="594360"/>
          </a:xfrm>
          <a:prstGeom prst="rect">
            <a:avLst/>
          </a:prstGeom>
          <a:solidFill>
            <a:srgbClr val="3A4A62"/>
          </a:solidFill>
          <a:ln w="12700">
            <a:solidFill>
              <a:srgbClr val="4A5A7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0901" y="2478024"/>
            <a:ext cx="36576" cy="59436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341" y="2478024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D4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/>
          </a:p>
        </p:txBody>
      </p:sp>
      <p:sp>
        <p:nvSpPr>
          <p:cNvPr id="35" name="Text 33"/>
          <p:cNvSpPr/>
          <p:nvPr/>
        </p:nvSpPr>
        <p:spPr>
          <a:xfrm>
            <a:off x="9372381" y="2478024"/>
            <a:ext cx="26455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PMR prep — data collection opens April 28</a:t>
            </a:r>
            <a:endParaRPr lang="en-US" sz="1300"/>
          </a:p>
        </p:txBody>
      </p:sp>
      <p:sp>
        <p:nvSpPr>
          <p:cNvPr id="36" name="Shape 34"/>
          <p:cNvSpPr/>
          <p:nvPr/>
        </p:nvSpPr>
        <p:spPr>
          <a:xfrm>
            <a:off x="8960901" y="3227832"/>
            <a:ext cx="3102779" cy="594360"/>
          </a:xfrm>
          <a:prstGeom prst="rect">
            <a:avLst/>
          </a:prstGeom>
          <a:solidFill>
            <a:srgbClr val="3A4A62"/>
          </a:solidFill>
          <a:ln w="12700">
            <a:solidFill>
              <a:srgbClr val="4A5A7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0901" y="3227832"/>
            <a:ext cx="36576" cy="594360"/>
          </a:xfrm>
          <a:prstGeom prst="rect">
            <a:avLst/>
          </a:prstGeom>
          <a:solidFill>
            <a:srgbClr val="0071A4"/>
          </a:solidFill>
          <a:ln w="12700">
            <a:solidFill>
              <a:srgbClr val="0071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341" y="3227832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D4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/>
          </a:p>
        </p:txBody>
      </p:sp>
      <p:sp>
        <p:nvSpPr>
          <p:cNvPr id="39" name="Text 37"/>
          <p:cNvSpPr/>
          <p:nvPr/>
        </p:nvSpPr>
        <p:spPr>
          <a:xfrm>
            <a:off x="9372381" y="3227832"/>
            <a:ext cx="26455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SDP documentation review submission</a:t>
            </a:r>
            <a:endParaRPr lang="en-US" sz="130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181" y="6062472"/>
            <a:ext cx="384048" cy="384048"/>
          </a:xfrm>
          <a:prstGeom prst="rect">
            <a:avLst/>
          </a:prstGeom>
        </p:spPr>
      </p:pic>
      <p:sp>
        <p:nvSpPr>
          <p:cNvPr id="43" name="Text nflabel">
            <a:extLst>
              <a:ext uri="{FF2B5EF4-FFF2-40B4-BE49-F238E27FC236}">
                <a16:creationId xmlns:a16="http://schemas.microsoft.com/office/drawing/2014/main" id="{6F01E1D9-49CE-3679-9B58-1E5E7ADD213D}"/>
              </a:ext>
            </a:extLst>
          </p:cNvPr>
          <p:cNvSpPr/>
          <p:nvPr/>
        </p:nvSpPr>
        <p:spPr>
          <a:xfrm>
            <a:off x="8966210" y="617601"/>
            <a:ext cx="2218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>
                <a:solidFill>
                  <a:srgbClr val="F5A800"/>
                </a:solidFill>
                <a:latin typeface="Cambria"/>
                <a:ea typeface="Cambria"/>
              </a:rP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24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BAMBOOTIGER PMR March 2026 v6</dc:title>
  <dc:subject>PptxGenJS Presentation</dc:subject>
  <dc:creator>Nightwing</dc:creator>
  <cp:revision>2</cp:revision>
  <dcterms:created xsi:type="dcterms:W3CDTF">2026-04-02T20:54:30Z</dcterms:created>
  <dcterms:modified xsi:type="dcterms:W3CDTF">2026-04-08T19:02:22Z</dcterms:modified>
</cp:coreProperties>
</file>