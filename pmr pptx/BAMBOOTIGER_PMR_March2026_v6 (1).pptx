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3" r:id="rId13"/>
    <p:sldId id="28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29641-8D48-E896-1959-971522C31242}" v="902" dt="2026-04-08T12:03:43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3AA07-4D81-4314-B390-FE74724D14B7}" type="datetimeFigureOut"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BE272-A943-4775-85F2-D8415B0FDD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58184" cy="6858000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58185" y="0"/>
            <a:ext cx="50292" cy="6858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1463040"/>
            <a:ext cx="490714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BAMBOOTIGER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9184" y="2761488"/>
            <a:ext cx="2560320" cy="36576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2761488"/>
            <a:ext cx="2255386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" y="2871216"/>
            <a:ext cx="4907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184" y="3401568"/>
            <a:ext cx="490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A7A8A"/>
                </a:solidFill>
                <a:latin typeface="Courier New"/>
                <a:ea typeface="Courier New" pitchFamily="34" charset="-122"/>
                <a:cs typeface="Courier New"/>
              </a:rPr>
              <a:t>WORK PERIOD  </a:t>
            </a:r>
            <a:r>
              <a:rPr lang="en-US" sz="1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March 1 – March 31, 2026</a:t>
            </a:r>
            <a:endParaRPr lang="en-US" sz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9184" y="3803904"/>
            <a:ext cx="4907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  ·  H98230-18-D0045/0001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DO1: A004-DI-ADMN-81373-Presentation 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" y="4425696"/>
            <a:ext cx="490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4, 2026</a:t>
            </a:r>
            <a:r>
              <a:rPr lang="en-US" sz="1200" b="1" kern="0" spc="10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PRESENTATION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14,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297860" y="411480"/>
            <a:ext cx="456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NIGHTWING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89300" y="804672"/>
            <a:ext cx="4563150" cy="20117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7860" y="877824"/>
            <a:ext cx="456691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7297860" y="2514600"/>
            <a:ext cx="4114800" cy="41737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97860" y="251460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97860" y="3108960"/>
            <a:ext cx="4114800" cy="41737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97860" y="310896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59312" y="310896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303700" y="310896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97860" y="3703320"/>
            <a:ext cx="4114800" cy="402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97860" y="3703320"/>
            <a:ext cx="27432" cy="40253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9312" y="3703320"/>
            <a:ext cx="914400" cy="40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303700" y="3703320"/>
            <a:ext cx="3017520" cy="40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297860" y="4297680"/>
            <a:ext cx="4114800" cy="41443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97860" y="429768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59312" y="429768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303700" y="429768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E3D7830A-2569-5B39-4C4D-FBDDFF602BB9}"/>
              </a:ext>
            </a:extLst>
          </p:cNvPr>
          <p:cNvSpPr/>
          <p:nvPr/>
        </p:nvSpPr>
        <p:spPr>
          <a:xfrm>
            <a:off x="7359312" y="251460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</a:t>
            </a:r>
            <a:endParaRPr lang="en-US" sz="105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72C6673D-25B1-9D4D-E201-3F85747045DE}"/>
              </a:ext>
            </a:extLst>
          </p:cNvPr>
          <p:cNvSpPr/>
          <p:nvPr/>
        </p:nvSpPr>
        <p:spPr>
          <a:xfrm>
            <a:off x="8451183" y="251460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Presentation Agenda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088136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088136"/>
            <a:ext cx="29261" cy="246888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" y="1088136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7744" y="133502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" y="1435608"/>
            <a:ext cx="73152" cy="73152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133502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37744" y="160934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1709928"/>
            <a:ext cx="73152" cy="73152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160934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37744" y="2033704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7744" y="2033704"/>
            <a:ext cx="29261" cy="24688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2033704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37744" y="228059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184" y="2381176"/>
            <a:ext cx="73152" cy="73152"/>
          </a:xfrm>
          <a:prstGeom prst="ellipse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228059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Surge Support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37744" y="255491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" y="2655496"/>
            <a:ext cx="73152" cy="73152"/>
          </a:xfrm>
          <a:prstGeom prst="ellipse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" y="255491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Mission – SWINGCAROUSEL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37744" y="3483175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37744" y="3483175"/>
            <a:ext cx="29261" cy="24688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9184" y="3483175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37744" y="3017225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3117809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" y="3017225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Milestone Roadmap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37744" y="373399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9184" y="383458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373399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37744" y="400831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29184" y="410890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" y="400831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DX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237744" y="428263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9184" y="438322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" y="428263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LX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237744" y="455695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9184" y="465754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" y="455695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RC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37744" y="483127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29184" y="493186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5488" y="483127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GCENext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237744" y="510559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29184" y="520618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510559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Nanostorm T&amp;D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237744" y="537991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29184" y="548050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5488" y="537991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1E2736"/>
                </a:solidFill>
                <a:latin typeface="Calibri"/>
                <a:ea typeface="Calibri"/>
                <a:cs typeface="Calibri"/>
              </a:rPr>
              <a:t>Sensitive Data Protection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214720" y="1088136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214720" y="1088136"/>
            <a:ext cx="29261" cy="246888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06160" y="1088136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6214720" y="133502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306160" y="1435608"/>
            <a:ext cx="73152" cy="73152"/>
          </a:xfrm>
          <a:prstGeom prst="ellipse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52464" y="133502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Support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6214720" y="1747094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214720" y="1747094"/>
            <a:ext cx="29261" cy="246888"/>
          </a:xfrm>
          <a:prstGeom prst="rect">
            <a:avLst/>
          </a:prstGeom>
          <a:solidFill>
            <a:srgbClr val="B02060"/>
          </a:solidFill>
          <a:ln w="12700">
            <a:solidFill>
              <a:srgbClr val="B0206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306160" y="1747094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214720" y="199398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06160" y="2094566"/>
            <a:ext cx="73152" cy="73152"/>
          </a:xfrm>
          <a:prstGeom prst="ellipse">
            <a:avLst/>
          </a:prstGeom>
          <a:solidFill>
            <a:srgbClr val="B02060"/>
          </a:solidFill>
          <a:ln w="12700">
            <a:solidFill>
              <a:srgbClr val="B0206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452464" y="199398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TechSIGINT Revitalization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6214720" y="2418342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214720" y="2418342"/>
            <a:ext cx="29261" cy="246888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306160" y="2418342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6214720" y="266523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06160" y="276581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452464" y="266523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Issue Matrix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6214720" y="293955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306160" y="304013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52464" y="293955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Accreditations</a:t>
            </a:r>
            <a:endParaRPr lang="en-US" sz="1300" dirty="0"/>
          </a:p>
        </p:txBody>
      </p:sp>
      <p:sp>
        <p:nvSpPr>
          <p:cNvPr id="78" name="Shape 75"/>
          <p:cNvSpPr/>
          <p:nvPr/>
        </p:nvSpPr>
        <p:spPr>
          <a:xfrm>
            <a:off x="6214720" y="321387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306160" y="331445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52464" y="321387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6214720" y="348819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06160" y="358877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452464" y="348819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Kudos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088136"/>
            <a:ext cx="11716207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088136"/>
            <a:ext cx="11716207" cy="36576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1197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96112" y="1197864"/>
            <a:ext cx="10893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/ Individual Name]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02336" y="1709928"/>
            <a:ext cx="11387023" cy="13716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1764792"/>
            <a:ext cx="11387023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accomplishment, impact, and why it merits recognition this period.]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Actions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2758745"/>
            <a:ext cx="11716207" cy="222747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2758745"/>
            <a:ext cx="11716207" cy="29261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" y="2813609"/>
            <a:ext cx="11716207" cy="211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3000" dirty="0">
                <a:solidFill>
                  <a:srgbClr val="B87800">
                    <a:alpha val="1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237744" y="2813609"/>
            <a:ext cx="11716207" cy="211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7A4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REPORT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37744" y="3444545"/>
            <a:ext cx="11716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items tracked for this reporting period.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B8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PRIORITY</a:t>
            </a:r>
            <a:endParaRPr lang="en-US" sz="1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B84A10"/>
                </a:solidFill>
                <a:latin typeface="Courier New"/>
                <a:cs typeface="Courier New"/>
              </a:rPr>
              <a:t>TIER 0</a:t>
            </a:r>
            <a:endParaRPr lang="en-US" sz="1000" b="1" kern="0" spc="250" dirty="0">
              <a:solidFill>
                <a:srgbClr val="B84A10"/>
              </a:solidFill>
              <a:latin typeface="Courier New"/>
              <a:cs typeface="Courier New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822960"/>
            <a:ext cx="22860" cy="37719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71059" y="822960"/>
            <a:ext cx="4567465" cy="37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Surge Support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794760" y="1453897"/>
            <a:ext cx="22860" cy="37719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1059" y="1453897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Mission – SWINGCAROUSEL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Tier 0 – Priority 1 – Strategic Surge Support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088136"/>
            <a:ext cx="92778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088136"/>
            <a:ext cx="64008" cy="22860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599" y="1309361"/>
            <a:ext cx="919316" cy="110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>
                <a:solidFill>
                  <a:srgbClr val="2952A3"/>
                </a:solidFill>
                <a:latin typeface="Courier New"/>
                <a:cs typeface="Courier New"/>
              </a:rPr>
              <a:t>TIEREDLEGEND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1308476"/>
            <a:ext cx="8144012" cy="18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[TILE surge support summary — describe LinkXplorer pipeline automation work completed and operational impact this period.]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7744" y="3447288"/>
            <a:ext cx="92778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7744" y="3447288"/>
            <a:ext cx="64008" cy="2286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8610" y="3628263"/>
            <a:ext cx="97155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BAYARD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80160" y="3623691"/>
            <a:ext cx="8144012" cy="199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[BAYARD surge support summary — describe focus form testing, query parameter validation, and analyst coordination across DX and LX this period.]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NEAR-FUTURE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98339" y="2093976"/>
            <a:ext cx="2083628" cy="159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TILE — continued pipeline automation and capacity scaling.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200" dirty="0">
              <a:solidFill>
                <a:srgbClr val="D8DCE8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D8DCE8"/>
                </a:solidFill>
                <a:ea typeface="Calibri"/>
                <a:cs typeface="Calibri"/>
              </a:rPr>
              <a:t>(U//FOUO) BAYARD — continued focus form testing with mission partners.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CE12F8A6-9F03-2143-AE4A-DECC9A1A1B62}"/>
              </a:ext>
            </a:extLst>
          </p:cNvPr>
          <p:cNvSpPr/>
          <p:nvPr/>
        </p:nvSpPr>
        <p:spPr>
          <a:xfrm>
            <a:off x="9899659" y="2900553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Tier 0 – Priority 2 – Graph Data Mission – SWINGCAROUSEL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54335" y="329184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0EDE8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54335" y="329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84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7744" y="1088136"/>
            <a:ext cx="5424074" cy="4626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" y="1088136"/>
            <a:ext cx="5424074" cy="43891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143000"/>
            <a:ext cx="5168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1399032"/>
            <a:ext cx="516804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[SWINGCAROUSEL New Features — describe graph data ingestion, processing, or visualization capabilities delivered this period and their mission impact.]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9562" y="1088136"/>
            <a:ext cx="3616050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99562" y="1088136"/>
            <a:ext cx="3616050" cy="43891"/>
          </a:xfrm>
          <a:prstGeom prst="rect">
            <a:avLst/>
          </a:prstGeom>
          <a:solidFill>
            <a:srgbClr val="0060B0"/>
          </a:solidFill>
          <a:ln w="12700">
            <a:solidFill>
              <a:srgbClr val="0060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27578" y="1143000"/>
            <a:ext cx="336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27578" y="1399032"/>
            <a:ext cx="336001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[SWINGCAROUSEL Improvements — pipeline hardening, performance tuning, and backend infrastructure work this period.]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899562" y="3438144"/>
            <a:ext cx="3616050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99562" y="3438144"/>
            <a:ext cx="3616050" cy="4389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27578" y="3493008"/>
            <a:ext cx="336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FIXES / BLOCKERS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27578" y="3749040"/>
            <a:ext cx="336001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[Bugs resolved or blockers addressed this period. If none, state NSTR.]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NEAR-FUTURE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7B6965F5-F6DB-B652-47D1-0BBDDEA0BD96}"/>
              </a:ext>
            </a:extLst>
          </p:cNvPr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038C25AB-4010-3121-76CD-75A52EB88754}"/>
              </a:ext>
            </a:extLst>
          </p:cNvPr>
          <p:cNvSpPr/>
          <p:nvPr/>
        </p:nvSpPr>
        <p:spPr>
          <a:xfrm>
            <a:off x="9998339" y="2093976"/>
            <a:ext cx="2083628" cy="159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/>
                <a:ea typeface="Calibri"/>
                <a:cs typeface="Calibri"/>
              </a:rPr>
              <a:t>(U//FOUO) [future tasks]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200" dirty="0">
              <a:solidFill>
                <a:srgbClr val="D8DCE8"/>
              </a:solidFill>
              <a:ea typeface="Calibri"/>
              <a:cs typeface="Calibri"/>
            </a:endParaRPr>
          </a:p>
          <a:p>
            <a:endParaRPr lang="en-US" sz="1200" dirty="0">
              <a:solidFill>
                <a:srgbClr val="D8DCE8"/>
              </a:solidFill>
              <a:ea typeface="Calibri"/>
              <a:cs typeface="Calibri"/>
            </a:endParaRPr>
          </a:p>
          <a:p>
            <a:endParaRPr lang="en-US" sz="1200" dirty="0">
              <a:solidFill>
                <a:srgbClr val="D8DCE8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D8DCE8"/>
                </a:solidFill>
                <a:ea typeface="Calibri"/>
                <a:cs typeface="Calibri"/>
              </a:rPr>
              <a:t>(U//FOUO) [future tasks]</a:t>
            </a:r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335C4ED9-6066-E97D-7A2C-8D7A4D0F41D0}"/>
              </a:ext>
            </a:extLst>
          </p:cNvPr>
          <p:cNvSpPr/>
          <p:nvPr/>
        </p:nvSpPr>
        <p:spPr>
          <a:xfrm>
            <a:off x="9899659" y="2900553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DELIVERABLES</a:t>
            </a:r>
            <a:endParaRPr lang="en-US" sz="1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0071A4"/>
                </a:solidFill>
                <a:latin typeface="Courier New"/>
                <a:cs typeface="Courier New"/>
              </a:rPr>
              <a:t>TIER 1</a:t>
            </a:r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768096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8768" y="768096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Milestone Roadmap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794760" y="1437894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58768" y="1437894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794760" y="2107692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58768" y="2107692"/>
            <a:ext cx="4572076" cy="37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DX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794760" y="2777490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58768" y="2777490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LX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794760" y="3447288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58768" y="3447288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RC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794760" y="4117086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58768" y="4117086"/>
            <a:ext cx="4572076" cy="37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GCENext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794760" y="4786884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58768" y="4786884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Nanostorm T&amp;D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3794760" y="5456682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58768" y="5456682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1E2736"/>
                </a:solidFill>
                <a:latin typeface="Calibri"/>
                <a:ea typeface="Calibri"/>
                <a:cs typeface="Calibri"/>
              </a:rPr>
              <a:t>Sensitive Data Protection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1 – Integrated Milestone Roadmap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133856"/>
            <a:ext cx="11716207" cy="347472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7744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214095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14095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90445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90445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190445" y="1133856"/>
            <a:ext cx="976351" cy="2743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53285" y="1508760"/>
            <a:ext cx="12506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NOW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66796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66796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43146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43146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19497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19497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95848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5848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072198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72198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48549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8549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024899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24899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001250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01250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0977601" y="1133856"/>
            <a:ext cx="9144" cy="347472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977601" y="1133856"/>
            <a:ext cx="976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37744" y="1773936"/>
            <a:ext cx="384048" cy="1588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" y="1773936"/>
            <a:ext cx="45720" cy="15880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7744" y="1773936"/>
            <a:ext cx="384048" cy="158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9224" y="2558796"/>
            <a:ext cx="11304727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004022" y="2476500"/>
            <a:ext cx="182880" cy="182880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775422" y="26776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DX4 Grid Beta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980373" y="2476500"/>
            <a:ext cx="182880" cy="182880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51773" y="26776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956723" y="24765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728123" y="26776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DX4 Production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909424" y="24765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80824" y="26776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DX3 Sunset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37744" y="3398520"/>
            <a:ext cx="384048" cy="1588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37744" y="3398520"/>
            <a:ext cx="45720" cy="158800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37744" y="3398520"/>
            <a:ext cx="384048" cy="158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49224" y="4183380"/>
            <a:ext cx="11304727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27671" y="4101084"/>
            <a:ext cx="182880" cy="182880"/>
          </a:xfrm>
          <a:prstGeom prst="ellipse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9071" y="43022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Cutover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980373" y="4101084"/>
            <a:ext cx="182880" cy="182880"/>
          </a:xfrm>
          <a:prstGeom prst="ellipse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751773" y="43022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WANDS-TS Deploy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933074" y="410108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04474" y="43022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LX3 Decom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37744" y="5023104"/>
            <a:ext cx="384048" cy="1588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37744" y="5023104"/>
            <a:ext cx="45720" cy="1588008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37744" y="5023104"/>
            <a:ext cx="384048" cy="158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49224" y="5807964"/>
            <a:ext cx="11304727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004022" y="5725668"/>
            <a:ext cx="182880" cy="182880"/>
          </a:xfrm>
          <a:prstGeom prst="ellipse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775422" y="59268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Prep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980373" y="5725668"/>
            <a:ext cx="182880" cy="182880"/>
          </a:xfrm>
          <a:prstGeom prst="ellipse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751773" y="59268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Rehost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3956723" y="57256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728123" y="59268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INT-C Cutover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909424" y="57256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680824" y="59268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Stable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1 – Priority 1 – HCI Migration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345311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345311"/>
            <a:ext cx="54864" cy="1524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" y="1345311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92608" y="2259711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DataXplorer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16736" y="1345311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16736" y="1345311"/>
            <a:ext cx="8198876" cy="2743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4752" y="1473327"/>
            <a:ext cx="7942844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[DX HCI — migration milestones, vulnerability mitigations, and DX3→DX4 database transition status this period.]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37744" y="3058287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7744" y="3058287"/>
            <a:ext cx="54864" cy="15240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7744" y="3058287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292608" y="3972687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LinkXplorer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316736" y="3058287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16736" y="3058287"/>
            <a:ext cx="8198876" cy="27432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44752" y="3186303"/>
            <a:ext cx="79428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[LX HCI — WANDS-TS deployment progress and HCI follow-on tasks completed this period.]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37744" y="4761738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7744" y="4761738"/>
            <a:ext cx="54864" cy="152400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37744" y="4761738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292608" y="5676138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Rollercoaster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316736" y="4761738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16736" y="4761738"/>
            <a:ext cx="8198876" cy="27432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44752" y="4889754"/>
            <a:ext cx="7942844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[RC HCI — EKS preparation, WANDS-TS rehosting, and INT-C rehosting progress this period.]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A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NEAR-FUTURE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 dirty="0"/>
          </a:p>
        </p:txBody>
      </p:sp>
      <p:sp>
        <p:nvSpPr>
          <p:cNvPr id="53" name="Shape 50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899660" y="2167128"/>
            <a:ext cx="41911" cy="51436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045964" y="209397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All teams standby for production cutover — go/no-go criteria confirmed.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899660" y="3541776"/>
            <a:ext cx="2164019" cy="16459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899660" y="3706368"/>
            <a:ext cx="41911" cy="41911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045964" y="363321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CVE mitigations continue as items arise across all environments.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899660" y="5081016"/>
            <a:ext cx="2164019" cy="16459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899660" y="5245608"/>
            <a:ext cx="41911" cy="51436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45964" y="517245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INT-C cutover readiness review — April 7 target.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1 – GCENext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F58D6EF-9BAA-B312-A3C7-7AF8278894ED}"/>
              </a:ext>
            </a:extLst>
          </p:cNvPr>
          <p:cNvGrpSpPr/>
          <p:nvPr/>
        </p:nvGrpSpPr>
        <p:grpSpPr>
          <a:xfrm>
            <a:off x="266319" y="1088136"/>
            <a:ext cx="11335269" cy="273558"/>
            <a:chOff x="237744" y="1088136"/>
            <a:chExt cx="9277868" cy="292608"/>
          </a:xfrm>
        </p:grpSpPr>
        <p:sp>
          <p:nvSpPr>
            <p:cNvPr id="12" name="Shape 9"/>
            <p:cNvSpPr/>
            <p:nvPr/>
          </p:nvSpPr>
          <p:spPr>
            <a:xfrm>
              <a:off x="237744" y="1088136"/>
              <a:ext cx="9277868" cy="292608"/>
            </a:xfrm>
            <a:prstGeom prst="rect">
              <a:avLst/>
            </a:prstGeom>
            <a:solidFill>
              <a:srgbClr val="F0EDE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676656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JAN</a:t>
              </a:r>
              <a:endParaRPr lang="en-US" sz="10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1413236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1413236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FEB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214981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214981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71A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MAR</a:t>
              </a:r>
              <a:endParaRPr lang="en-US" sz="10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2149815" y="1088136"/>
              <a:ext cx="736580" cy="22860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19" name="Shape 16"/>
            <p:cNvSpPr/>
            <p:nvPr/>
          </p:nvSpPr>
          <p:spPr>
            <a:xfrm>
              <a:off x="288639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0" name="Text 17"/>
            <p:cNvSpPr/>
            <p:nvPr/>
          </p:nvSpPr>
          <p:spPr>
            <a:xfrm>
              <a:off x="288639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APR</a:t>
              </a:r>
              <a:endParaRPr lang="en-US" sz="100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362297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2" name="Text 19"/>
            <p:cNvSpPr/>
            <p:nvPr/>
          </p:nvSpPr>
          <p:spPr>
            <a:xfrm>
              <a:off x="362297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MAY</a:t>
              </a:r>
              <a:endParaRPr lang="en-US" sz="10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435955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4" name="Text 21"/>
            <p:cNvSpPr/>
            <p:nvPr/>
          </p:nvSpPr>
          <p:spPr>
            <a:xfrm>
              <a:off x="435955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JUN</a:t>
              </a:r>
              <a:endParaRPr lang="en-US" sz="10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509613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6" name="Text 23"/>
            <p:cNvSpPr/>
            <p:nvPr/>
          </p:nvSpPr>
          <p:spPr>
            <a:xfrm>
              <a:off x="509613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JUL</a:t>
              </a:r>
              <a:endParaRPr lang="en-US" sz="10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583271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8" name="Text 25"/>
            <p:cNvSpPr/>
            <p:nvPr/>
          </p:nvSpPr>
          <p:spPr>
            <a:xfrm>
              <a:off x="583271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AUG</a:t>
              </a:r>
              <a:endParaRPr lang="en-US" sz="10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656929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0" name="Text 27"/>
            <p:cNvSpPr/>
            <p:nvPr/>
          </p:nvSpPr>
          <p:spPr>
            <a:xfrm>
              <a:off x="656929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SEP</a:t>
              </a:r>
              <a:endParaRPr lang="en-US" sz="1000" dirty="0"/>
            </a:p>
          </p:txBody>
        </p:sp>
        <p:sp>
          <p:nvSpPr>
            <p:cNvPr id="31" name="Shape 28"/>
            <p:cNvSpPr/>
            <p:nvPr/>
          </p:nvSpPr>
          <p:spPr>
            <a:xfrm>
              <a:off x="730587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2" name="Text 29"/>
            <p:cNvSpPr/>
            <p:nvPr/>
          </p:nvSpPr>
          <p:spPr>
            <a:xfrm>
              <a:off x="730587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OCT</a:t>
              </a:r>
              <a:endParaRPr lang="en-US" sz="10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804245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4" name="Text 31"/>
            <p:cNvSpPr/>
            <p:nvPr/>
          </p:nvSpPr>
          <p:spPr>
            <a:xfrm>
              <a:off x="804245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NOV</a:t>
              </a:r>
              <a:endParaRPr lang="en-US" sz="10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8779032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6" name="Text 33"/>
            <p:cNvSpPr/>
            <p:nvPr/>
          </p:nvSpPr>
          <p:spPr>
            <a:xfrm>
              <a:off x="8779032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DEC</a:t>
              </a:r>
              <a:endParaRPr lang="en-US" sz="1000" dirty="0"/>
            </a:p>
          </p:txBody>
        </p:sp>
      </p:grpSp>
      <p:sp>
        <p:nvSpPr>
          <p:cNvPr id="37" name="Text 34"/>
          <p:cNvSpPr/>
          <p:nvPr/>
        </p:nvSpPr>
        <p:spPr>
          <a:xfrm>
            <a:off x="1875495" y="1363218"/>
            <a:ext cx="1102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NOW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37744" y="1435608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" y="1435608"/>
            <a:ext cx="45720" cy="775716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7744" y="1435608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6656" y="1814322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62650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9770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699230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16350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Complete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435809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252929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 Review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37744" y="2247900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37744" y="2247900"/>
            <a:ext cx="45720" cy="775716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37744" y="2247900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76656" y="2626614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172389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989509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Start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645548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462668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Build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118708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35828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37744" y="3060192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37744" y="3060192"/>
            <a:ext cx="45720" cy="775716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37744" y="3060192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76656" y="3438906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85528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7240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Test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759186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40898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Pkg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32844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14556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9065026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882146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692B68D-E372-8506-38FE-AEA45D15FEC9}"/>
              </a:ext>
            </a:extLst>
          </p:cNvPr>
          <p:cNvGrpSpPr/>
          <p:nvPr/>
        </p:nvGrpSpPr>
        <p:grpSpPr>
          <a:xfrm>
            <a:off x="423333" y="3909060"/>
            <a:ext cx="11335268" cy="2766060"/>
            <a:chOff x="417661" y="3909060"/>
            <a:chExt cx="11335268" cy="2766060"/>
          </a:xfrm>
        </p:grpSpPr>
        <p:sp>
          <p:nvSpPr>
            <p:cNvPr id="70" name="Shape 67"/>
            <p:cNvSpPr/>
            <p:nvPr/>
          </p:nvSpPr>
          <p:spPr>
            <a:xfrm>
              <a:off x="417661" y="3909060"/>
              <a:ext cx="5487802" cy="27111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71" name="Shape 68"/>
            <p:cNvSpPr/>
            <p:nvPr/>
          </p:nvSpPr>
          <p:spPr>
            <a:xfrm>
              <a:off x="417661" y="3909060"/>
              <a:ext cx="5487802" cy="43891"/>
            </a:xfrm>
            <a:prstGeom prst="rect">
              <a:avLst/>
            </a:prstGeom>
            <a:solidFill>
              <a:srgbClr val="0A7A4A"/>
            </a:solidFill>
            <a:ln w="12700">
              <a:solidFill>
                <a:srgbClr val="0A7A4A"/>
              </a:solidFill>
              <a:prstDash val="solid"/>
            </a:ln>
          </p:spPr>
        </p:sp>
        <p:sp>
          <p:nvSpPr>
            <p:cNvPr id="72" name="Text 69"/>
            <p:cNvSpPr/>
            <p:nvPr/>
          </p:nvSpPr>
          <p:spPr>
            <a:xfrm>
              <a:off x="555774" y="3963924"/>
              <a:ext cx="52051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 dirty="0">
                  <a:solidFill>
                    <a:srgbClr val="0A7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DELIVERABLES THIS PERIOD</a:t>
              </a:r>
              <a:endParaRPr lang="en-US" sz="1100" dirty="0"/>
            </a:p>
          </p:txBody>
        </p:sp>
        <p:sp>
          <p:nvSpPr>
            <p:cNvPr id="73" name="Text 70"/>
            <p:cNvSpPr/>
            <p:nvPr/>
          </p:nvSpPr>
          <p:spPr>
            <a:xfrm>
              <a:off x="555774" y="4219956"/>
              <a:ext cx="5205101" cy="245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E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(U//FOUO) [GCENext deliverables completed this period — list specific tasks, epics, or milestones achieved in March 2026.]</a:t>
              </a:r>
              <a:endParaRPr lang="en-US" sz="1400" dirty="0"/>
            </a:p>
          </p:txBody>
        </p:sp>
        <p:sp>
          <p:nvSpPr>
            <p:cNvPr id="74" name="Shape 71"/>
            <p:cNvSpPr/>
            <p:nvPr/>
          </p:nvSpPr>
          <p:spPr>
            <a:xfrm>
              <a:off x="6265127" y="3909060"/>
              <a:ext cx="5487802" cy="27111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75" name="Shape 72"/>
            <p:cNvSpPr/>
            <p:nvPr/>
          </p:nvSpPr>
          <p:spPr>
            <a:xfrm>
              <a:off x="6265127" y="3909060"/>
              <a:ext cx="5487802" cy="43891"/>
            </a:xfrm>
            <a:prstGeom prst="rect">
              <a:avLst/>
            </a:prstGeom>
            <a:solidFill>
              <a:srgbClr val="B87800"/>
            </a:solidFill>
            <a:ln w="12700">
              <a:solidFill>
                <a:srgbClr val="B87800"/>
              </a:solidFill>
              <a:prstDash val="solid"/>
            </a:ln>
          </p:spPr>
        </p:sp>
        <p:sp>
          <p:nvSpPr>
            <p:cNvPr id="76" name="Text 73"/>
            <p:cNvSpPr/>
            <p:nvPr/>
          </p:nvSpPr>
          <p:spPr>
            <a:xfrm>
              <a:off x="6403239" y="3963924"/>
              <a:ext cx="52051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 dirty="0">
                  <a:solidFill>
                    <a:srgbClr val="B878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NEAR-FUTURE TASKS</a:t>
              </a:r>
              <a:endParaRPr lang="en-US" sz="1100" dirty="0"/>
            </a:p>
          </p:txBody>
        </p:sp>
        <p:sp>
          <p:nvSpPr>
            <p:cNvPr id="77" name="Text 74"/>
            <p:cNvSpPr/>
            <p:nvPr/>
          </p:nvSpPr>
          <p:spPr>
            <a:xfrm>
              <a:off x="6403239" y="4219956"/>
              <a:ext cx="5210814" cy="245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1E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(U//FOUO) [GCENext planned work for the upcoming sprint period — next milestones, dependencies, and any open risks.]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2 – Priority 1 – Mission Support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4828" y="1442823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4828" y="1442823"/>
            <a:ext cx="45967" cy="16549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4828" y="1442823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30795" y="2386167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DataXplorer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84828" y="3139888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84828" y="3139888"/>
            <a:ext cx="45967" cy="1654989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84828" y="3139888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230795" y="4083232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LinkXplorer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184828" y="4836954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84828" y="4836954"/>
            <a:ext cx="45967" cy="1654989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84828" y="4836954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230795" y="5780298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Rollercoaster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17342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17342" y="1377605"/>
            <a:ext cx="3562177" cy="23142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7342" y="1158873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6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SUSTAINMENT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27894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7894" y="1377605"/>
            <a:ext cx="3562177" cy="2314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7894" y="1158873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ML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38445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38445" y="1377605"/>
            <a:ext cx="3562177" cy="23142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8445" y="1158873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0A7A4A"/>
                </a:solidFill>
                <a:latin typeface="Courier New"/>
                <a:ea typeface="Courier New" pitchFamily="34" charset="-122"/>
                <a:cs typeface="Courier New"/>
              </a:rPr>
              <a:t>508 ACCESSIBILITY</a:t>
            </a:r>
            <a:endParaRPr lang="en-US" sz="1050">
              <a:latin typeface="Courier New"/>
              <a:cs typeface="Courier New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217342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14092" y="1569051"/>
            <a:ext cx="3368677" cy="152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</a:t>
            </a: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work </a:t>
            </a:r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completed this period.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827894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4644" y="1569051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</a:t>
            </a: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work </a:t>
            </a:r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completed this period.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438445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35195" y="1569051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</a:t>
            </a: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work </a:t>
            </a:r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completed this period.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217342" y="3139888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14092" y="3266116"/>
            <a:ext cx="3368677" cy="153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provided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27894" y="3139888"/>
            <a:ext cx="3562177" cy="1654989"/>
          </a:xfrm>
          <a:prstGeom prst="rect">
            <a:avLst/>
          </a:prstGeom>
          <a:solidFill>
            <a:schemeClr val="bg1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438445" y="3139888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35195" y="3266116"/>
            <a:ext cx="3368677" cy="153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Accessibility compliance improvements and remediation work completed this period.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1217342" y="4836954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4092" y="4963182"/>
            <a:ext cx="3368677" cy="152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Bug fixes, stability patches, and mission support tasks completed this period.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4827894" y="4836954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924644" y="4963182"/>
            <a:ext cx="3368677" cy="153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Post-processor integration work supporting the AI/ML pipeline completed this period.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8438445" y="4836954"/>
            <a:ext cx="3562177" cy="1654989"/>
          </a:xfrm>
          <a:prstGeom prst="rect">
            <a:avLst/>
          </a:prstGeom>
          <a:noFill/>
          <a:ln w="12700">
            <a:solidFill>
              <a:srgbClr val="D4CFC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462632" y="4836954"/>
            <a:ext cx="3513802" cy="1654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Backend only</a:t>
            </a:r>
            <a:endParaRPr lang="en-US" sz="110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B37EDB36-6AF6-B189-3349-4788C7B1DD2F}"/>
              </a:ext>
            </a:extLst>
          </p:cNvPr>
          <p:cNvSpPr/>
          <p:nvPr/>
        </p:nvSpPr>
        <p:spPr>
          <a:xfrm>
            <a:off x="4924643" y="3262384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</a:t>
            </a: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work </a:t>
            </a:r>
            <a:r>
              <a:rPr lang="en-US" sz="1300" dirty="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completed this period.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8778021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54864" cy="6455664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12648"/>
            <a:ext cx="84122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BAMBOOTIGER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56032" y="1664208"/>
            <a:ext cx="8412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2075688"/>
            <a:ext cx="2743200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075688"/>
            <a:ext cx="5577621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2860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continues on track across all Tier 1 products — DX, LX, and RC.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" y="281635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2816352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 standby posture maintained; all teams ready for production cutover.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" y="334670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3346704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support SLAs met across sustainment, AI/ML, and 508 accessibility tracks.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" y="387705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" y="3877056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P1 incidents or unmitigated critical vulnerabilities as of period close.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021" y="201168"/>
            <a:ext cx="3413675" cy="6455664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021" y="201168"/>
            <a:ext cx="36576" cy="6455664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0901" y="612648"/>
            <a:ext cx="31576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Courier New" pitchFamily="34" charset="-122"/>
                <a:cs typeface="Courier New"/>
              </a:rPr>
              <a:t>NEXT STEPS</a:t>
            </a:r>
            <a:endParaRPr 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60901" y="896112"/>
            <a:ext cx="3102779" cy="20117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0901" y="978408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0901" y="978408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341" y="978408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72381" y="978408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production cutover go/no-go decision — April 14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60901" y="1728216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0901" y="1728216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341" y="1728216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72381" y="1728216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DX4 Results Grid production release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60901" y="2478024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0901" y="2478024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341" y="2478024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72381" y="2478024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PMR prep — data collection opens April 28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960901" y="3227832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0901" y="3227832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341" y="3227832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2381" y="3227832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documentation review submission</a:t>
            </a:r>
            <a:endParaRPr lang="en-US" sz="13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181" y="60624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BAMBOOTIGER PMR March 2026 v6</dc:title>
  <dc:subject>PptxGenJS Presentation</dc:subject>
  <dc:creator>Nightwing</dc:creator>
  <cp:lastModifiedBy>Nightwing</cp:lastModifiedBy>
  <cp:revision>192</cp:revision>
  <dcterms:created xsi:type="dcterms:W3CDTF">2026-04-02T20:54:30Z</dcterms:created>
  <dcterms:modified xsi:type="dcterms:W3CDTF">2026-04-08T12:04:35Z</dcterms:modified>
</cp:coreProperties>
</file>